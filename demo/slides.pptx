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bdb8f67-03d2-b8a2-06f5-ca0a1fb48f4a}">
          <p14:sldIdLst>
            <p14:sldId id="256"/>
          </p14:sldIdLst>
        </p14:section>
        <p14:section name="Project" id="{9b61f8f6-db3e-b5db-6d34-f811cd0adbbe}">
          <p14:sldIdLst>
            <p14:sldId id="257"/>
            <p14:sldId id="258"/>
            <p14:sldId id="259"/>
            <p14:sldId id="260"/>
          </p14:sldIdLst>
        </p14:section>
        <p14:section name="Engineering" id="{5c7e75c9-5804-3865-d860-c45d5ed5b64d}">
          <p14:sldIdLst>
            <p14:sldId id="261"/>
            <p14:sldId id="262"/>
            <p14:sldId id="263"/>
          </p14:sldIdLst>
        </p14:section>
        <p14:section name="Delivery" id="{b89e78f0-05df-c771-a95e-4200357a5abf}">
          <p14:sldIdLst>
            <p14:sldId id="264"/>
            <p14:sldId id="265"/>
            <p14:sldId id="266"/>
            <p14:sldId id="267"/>
            <p14:sldId id="268"/>
          </p14:sldIdLst>
        </p14:section>
        <p14:section name="Platform" id="{0352c739-fbf0-1ecb-3b7b-f3ed64f3ccf8}">
          <p14:sldIdLst>
            <p14:sldId id="269"/>
            <p14:sldId id="270"/>
            <p14:sldId id="271"/>
            <p14:sldId id="272"/>
            <p14:sldId id="273"/>
            <p14:sldId id="274"/>
            <p14:sldId id="275"/>
            <p14:sldId id="276"/>
            <p14:sldId id="277"/>
            <p14:sldId id="278"/>
            <p14:sldId id="279"/>
            <p14:sldId id="280"/>
            <p14:sldId id="281"/>
          </p14:sldIdLst>
        </p14:section>
        <p14:section name="Wrap-up" id="{0ab0ecde-ceb9-a294-5c37-1269c2bd7f6c}">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GitTogether is a web app where students find teammates. The capstone is about everything around the app: tests, a CI/CD pipeline with security scanning, infrastructure as code on AWS, Kubernetes, GitOps and monitoring. Today I will show each piece working, and the last part of the video is live on a real EKS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deliberately small so the focus stays on DevOps. Backend is FastAPI with Postgres, frontend is React served by nginx. This screenshot is the app running on EKS behind an AWS load balancer.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student profile with skills, department and availability. Right, the connection requests: sent, received and accepted. This is the data the seed script creates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A push to GitHub triggers the Actions pipeline, which builds the images and pushes them to GHCR tagged with the commit SHA. Inside AWS, Terraform builds the VPC and the EKS cluster. Traffic comes in through a load balancer to the Traefik ingress, which routes slash to the frontend and slash api to the backend. The backend talks to Postgres on an EBS volume and autoscales between 2 and 5 replicas. Prometheus and Grafana monitor it, and ArgoCD keeps the cluster in sync with the Git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toolchain, grouped by purpose. Pick two or three to say out loud: FastAPI and React for the app, GitHub Actions with Trivy for the pipeline, Terraform for AWS, Helm and ArgoCD for deployment, Prometheus and Grafana for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are the first quality gate. They run against a throwaway SQLite database, never the real one, and the pipeline stops if any test fails or coverage drops under 90 percent, so a broken image is never built or pushed. 65 tests pass with 99 percent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starts the frontend, backend and Postgres with one command. All three report healthy, and the app is at localhost 3000. The frontend image is a multi-stage build with an nginx runtime, and both images run as non-root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on the main branch. Every push triggers the pipeline, and the green checks next to the commits are those runs. Commit messages describe the change, for example pinning the actions to commit SHAs or giving the EBS driver its own IAM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on every push. It scans for secrets, lints and tests the backend and frontend, validates Terraform and Helm, scans the infrastructure code, then builds both images, scans them with Trivy and only then pushes them to GHCR. Third-party actions are pinned to full commit SHAs. In the video I will push a commit and watch it go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page of a successful run: the backend and frontend jobs run in parallel, then the matrix of image jobs builds, scans and pushes both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pushes both images to GHCR, tagged with the full commit SHA. The cluster pulls exactly these images, and the SHA tells you which commit built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the operating system packages and the Python libraries in the image and fails the build on high or critical issues that have a fix. On its first run it found three high CVEs in Starlette, for example a denial of service through crafted Range headers. I upgraded FastAPI and Starlette and the scan came back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image had 41 issues in the old nginx 1.27 and Alpine 3.21 base. Moving to nginx-unprivileged 1.30 on Alpine, which also runs as non-root, brought it to zero. Containers also run as non-root, pods run under the restricted Pod Security standard, and secrets are encrypted with KMS.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the network and the cluster using the community VPC and EKS modules. The apply output ends with 59 resources added and the cluster name and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VPC and its four subnets across two availability zones. Public subnets hold the load balancer and the NAT gateway, private subnets hold the worker nodes, which reach the internet through the single NAT gateway to keep the cost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is Active on Kubernetes 1.35, which is in standard support until March 2027. The AWS free plan only allows certain instance types and 5 vCPUs, so I used two m7i-flex.large nodes. The EBS driver gets its permissions through EKS Pod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and kubectl agree: two m7i-flex.large nodes, both Ready, on Kubernetes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deploys from one Helm chart: backend and frontend with two replicas each, a Postgres StatefulSet with a persistent volume, services, ingress and disruption budgets. This is the first run, deployed with helm directly. Later runs let ArgoCD deploy the same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slash health for the liveness probe, slash ready for readiness, and slash metrics in Prometheus format, with request counts and latency per endpoint. I checked health through the load balancer and metrics through a port-forward.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autoscaler under a load test. CPU jumps to about 150 percent of the 70 percent target, the HPA grows the backend from 2 to 5 replicas, and CPU settles back. In the video I will run the same load test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five backend pods are only a few minutes old: the autoscaler created them during the load test, which is the script on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ArgoCD watches the Helm chart in the repo and applies it automatically, removes what is no longer in git, and reverts manual changes. I tested that by scaling the frontend to four replicas by hand, and ArgoCD set it back to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tree of the application. One honest detail: on EKS 1.35 and 1.36 the API server returns a 503 for the OpenAPI schema while the metrics APIs are registered, which stops ArgoCD from starting. Unregistering them while ArgoCD loads fixes it. That is in a script and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ServiceMonitor tells Prometheus to scrape every backend pod. On the targets page both pods are up, so adding replicas adds targets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Grafana dashboard is created from a ConfigMap, so it is part of the repo and appears automatically. This screenshot was taken during the load test, so you can see the request rate, latency and CPU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demo I uninstall the load balancer and volumes first, then run terraform destroy and check the console for leftovers. This is the destroy output, 59 resources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problems. First, the free plan rejected t3.medium and capped the account at five vCPUs, so I used two m7i-flex.large nodes. Second, the EBS CSI driver crash-looped because pods cannot use the node metadata credentials, so I gave it its own IAM role through Pod Identity. Third, ArgoCD could not read the cluster schema on EKS. I rebuilt on 1.35 to prove it was not specific to 1.36, then found that removing the two aggregated metrics APIs while ArgoCD starts fixes it. The takeaway: change one thing at a time and reproduce on a clean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 would do next: a managed database, real HTTPS, automatic image-tag bumps in CI, and a restricted API endpoint. Then switch to the live demo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GitTogether  |  DevOps capstone</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463040"/>
            <a:ext cx="6035040" cy="6035040"/>
          </a:xfrm>
          <a:prstGeom prst="ellipse">
            <a:avLst/>
          </a:prstGeom>
          <a:solidFill>
            <a:schemeClr val="accent1">
              <a:alpha val="18000"/>
            </a:schemeClr>
          </a:solidFill>
          <a:ln w="12700">
            <a:solidFill>
              <a:schemeClr val="tx1">
                <a:alpha val="0"/>
              </a:schemeClr>
            </a:solidFill>
            <a:prstDash val="solid"/>
          </a:ln>
        </p:spPr>
      </p:sp>
      <p:sp>
        <p:nvSpPr>
          <p:cNvPr id="3" name="Shape 1"/>
          <p:cNvSpPr/>
          <p:nvPr/>
        </p:nvSpPr>
        <p:spPr>
          <a:xfrm>
            <a:off x="9144000" y="3566160"/>
            <a:ext cx="4754880" cy="4754880"/>
          </a:xfrm>
          <a:prstGeom prst="ellipse">
            <a:avLst/>
          </a:prstGeom>
          <a:solidFill>
            <a:schemeClr val="accent2">
              <a:alpha val="22000"/>
            </a:schemeClr>
          </a:solidFill>
          <a:ln w="12700">
            <a:solidFill>
              <a:schemeClr val="tx1">
                <a:alpha val="0"/>
              </a:schemeClr>
            </a:solidFill>
            <a:prstDash val="solid"/>
          </a:ln>
        </p:spPr>
      </p:sp>
      <p:sp>
        <p:nvSpPr>
          <p:cNvPr id="4" name="Text 2"/>
          <p:cNvSpPr txBox="1"/>
          <p:nvPr/>
        </p:nvSpPr>
        <p:spPr>
          <a:xfrm>
            <a:off x="731520" y="1554480"/>
            <a:ext cx="7315200" cy="365760"/>
          </a:xfrm>
          <a:prstGeom prst="rect">
            <a:avLst/>
          </a:prstGeom>
          <a:noFill/>
          <a:ln/>
        </p:spPr>
        <p:txBody>
          <a:bodyPr wrap="square" lIns="0" tIns="0" rIns="0" bIns="0" rtlCol="0" anchor="ctr"/>
          <a:lstStyle/>
          <a:p>
            <a:pPr indent="0" marL="0">
              <a:buNone/>
            </a:pPr>
            <a:r>
              <a:rPr lang="en-US" sz="1600" b="1" spc="400" kern="0" dirty="0">
                <a:solidFill>
                  <a:schemeClr val="accent1"/>
                </a:solidFill>
              </a:rPr>
              <a:t>DEVOPS CAPSTONE</a:t>
            </a:r>
            <a:endParaRPr lang="en-US" sz="1600" dirty="0"/>
          </a:p>
        </p:txBody>
      </p:sp>
      <p:sp>
        <p:nvSpPr>
          <p:cNvPr id="5" name="Text 3"/>
          <p:cNvSpPr txBox="1"/>
          <p:nvPr/>
        </p:nvSpPr>
        <p:spPr>
          <a:xfrm>
            <a:off x="731520" y="2011680"/>
            <a:ext cx="8229600" cy="1280160"/>
          </a:xfrm>
          <a:prstGeom prst="rect">
            <a:avLst/>
          </a:prstGeom>
          <a:noFill/>
          <a:ln/>
        </p:spPr>
        <p:txBody>
          <a:bodyPr wrap="square" lIns="0" tIns="0" rIns="0" bIns="0" rtlCol="0" anchor="ctr"/>
          <a:lstStyle/>
          <a:p>
            <a:pPr indent="0" marL="0">
              <a:buNone/>
            </a:pPr>
            <a:r>
              <a:rPr lang="en-US" sz="8000" b="1" dirty="0">
                <a:solidFill>
                  <a:schemeClr val="bg1"/>
                </a:solidFill>
              </a:rPr>
              <a:t>GitTogether</a:t>
            </a:r>
            <a:endParaRPr lang="en-US" sz="8000" dirty="0"/>
          </a:p>
        </p:txBody>
      </p:sp>
      <p:sp>
        <p:nvSpPr>
          <p:cNvPr id="6" name="Text 4"/>
          <p:cNvSpPr txBox="1"/>
          <p:nvPr/>
        </p:nvSpPr>
        <p:spPr>
          <a:xfrm>
            <a:off x="731520" y="3474720"/>
            <a:ext cx="7498080" cy="1097280"/>
          </a:xfrm>
          <a:prstGeom prst="rect">
            <a:avLst/>
          </a:prstGeom>
          <a:noFill/>
          <a:ln/>
        </p:spPr>
        <p:txBody>
          <a:bodyPr wrap="square" lIns="0" tIns="0" rIns="0" bIns="0" rtlCol="0" anchor="t"/>
          <a:lstStyle/>
          <a:p>
            <a:pPr indent="0" marL="0">
              <a:buNone/>
            </a:pPr>
            <a:r>
              <a:rPr lang="en-US" sz="2400" dirty="0">
                <a:solidFill>
                  <a:schemeClr val="accent3"/>
                </a:solidFill>
              </a:rPr>
              <a:t>A teammate-finder for students, taken from a laptop to a monitored Kubernetes cluster on AWS</a:t>
            </a:r>
            <a:endParaRPr lang="en-US" sz="2400" dirty="0"/>
          </a:p>
        </p:txBody>
      </p:sp>
      <p:sp>
        <p:nvSpPr>
          <p:cNvPr id="7" name="Text 5"/>
          <p:cNvSpPr txBox="1"/>
          <p:nvPr/>
        </p:nvSpPr>
        <p:spPr>
          <a:xfrm>
            <a:off x="731520" y="5212080"/>
            <a:ext cx="7315200" cy="365760"/>
          </a:xfrm>
          <a:prstGeom prst="rect">
            <a:avLst/>
          </a:prstGeom>
          <a:noFill/>
          <a:ln/>
        </p:spPr>
        <p:txBody>
          <a:bodyPr wrap="square" lIns="0" tIns="0" rIns="0" bIns="0" rtlCol="0" anchor="ctr"/>
          <a:lstStyle/>
          <a:p>
            <a:pPr indent="0" marL="0">
              <a:buNone/>
            </a:pPr>
            <a:r>
              <a:rPr lang="en-US" sz="1800" dirty="0">
                <a:solidFill>
                  <a:schemeClr val="bg1"/>
                </a:solidFill>
              </a:rPr>
              <a:t>Ahmad Anzar</a:t>
            </a:r>
            <a:endParaRPr lang="en-US" sz="1800" dirty="0"/>
          </a:p>
        </p:txBody>
      </p:sp>
      <p:sp>
        <p:nvSpPr>
          <p:cNvPr id="8" name="Text 6"/>
          <p:cNvSpPr txBox="1"/>
          <p:nvPr/>
        </p:nvSpPr>
        <p:spPr>
          <a:xfrm>
            <a:off x="731520" y="5623560"/>
            <a:ext cx="7315200" cy="365760"/>
          </a:xfrm>
          <a:prstGeom prst="rect">
            <a:avLst/>
          </a:prstGeom>
          <a:noFill/>
          <a:ln/>
        </p:spPr>
        <p:txBody>
          <a:bodyPr wrap="square" lIns="0" tIns="0" rIns="0" bIns="0" rtlCol="0" anchor="ctr"/>
          <a:lstStyle/>
          <a:p>
            <a:pPr indent="0" marL="0">
              <a:buNone/>
            </a:pPr>
            <a:r>
              <a:rPr lang="en-US" sz="1600" dirty="0">
                <a:solidFill>
                  <a:schemeClr val="accent6"/>
                </a:solidFill>
              </a:rPr>
              <a:t>github.com/AhmadAnzar/GitTogether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THE APP</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Find teammates for projects and hackathons</a:t>
            </a:r>
            <a:endParaRPr lang="en-US" sz="3600" dirty="0"/>
          </a:p>
        </p:txBody>
      </p:sp>
      <p:sp>
        <p:nvSpPr>
          <p:cNvPr id="4" name="Frame firstlook.png"/>
          <p:cNvSpPr/>
          <p:nvPr/>
        </p:nvSpPr>
        <p:spPr>
          <a:xfrm>
            <a:off x="2251270" y="1463040"/>
            <a:ext cx="7686413" cy="4434840"/>
          </a:xfrm>
          <a:prstGeom prst="rect">
            <a:avLst/>
          </a:prstGeom>
          <a:solidFill>
            <a:schemeClr val="tx2"/>
          </a:solidFill>
          <a:ln w="12700">
            <a:solidFill>
              <a:schemeClr val="accent4"/>
            </a:solidFill>
            <a:prstDash val="solid"/>
          </a:ln>
        </p:spPr>
      </p:sp>
      <p:pic>
        <p:nvPicPr>
          <p:cNvPr id="5" name="firstlook.png" descr="firstlook.png">    </p:cNvPr>
          <p:cNvPicPr>
            <a:picLocks noChangeAspect="1"/>
          </p:cNvPicPr>
          <p:nvPr/>
        </p:nvPicPr>
        <p:blipFill>
          <a:blip r:embed="rId1"/>
          <a:stretch>
            <a:fillRect/>
          </a:stretch>
        </p:blipFill>
        <p:spPr>
          <a:xfrm>
            <a:off x="2296990" y="1508760"/>
            <a:ext cx="7594973"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dirty="0">
                <a:solidFill>
                  <a:schemeClr val="accent6"/>
                </a:solidFill>
              </a:rPr>
              <a:t>Make a profile with skills and availability, browse students, </a:t>
            </a:r>
            <a:pPr indent="0" marL="0">
              <a:buNone/>
            </a:pPr>
            <a:r>
              <a:rPr lang="en-US" sz="1800" b="1" dirty="0">
                <a:solidFill>
                  <a:schemeClr val="accent3"/>
                </a:solidFill>
              </a:rPr>
              <a:t>send connection requests</a:t>
            </a:r>
            <a:pPr indent="0" marL="0">
              <a:buNone/>
            </a:pPr>
            <a:r>
              <a:rPr lang="en-US" sz="1800" dirty="0">
                <a:solidFill>
                  <a:schemeClr val="accent6"/>
                </a:solidFill>
              </a:rPr>
              <a:t>.</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THE APP</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Profiles and connections</a:t>
            </a:r>
            <a:endParaRPr lang="en-US" sz="3600" dirty="0"/>
          </a:p>
        </p:txBody>
      </p:sp>
      <p:sp>
        <p:nvSpPr>
          <p:cNvPr id="4" name="Frame profile.png"/>
          <p:cNvSpPr/>
          <p:nvPr/>
        </p:nvSpPr>
        <p:spPr>
          <a:xfrm>
            <a:off x="502920" y="2063658"/>
            <a:ext cx="5532120" cy="3233605"/>
          </a:xfrm>
          <a:prstGeom prst="rect">
            <a:avLst/>
          </a:prstGeom>
          <a:solidFill>
            <a:schemeClr val="tx2"/>
          </a:solidFill>
          <a:ln w="12700">
            <a:solidFill>
              <a:schemeClr val="accent4"/>
            </a:solidFill>
            <a:prstDash val="solid"/>
          </a:ln>
        </p:spPr>
      </p:sp>
      <p:pic>
        <p:nvPicPr>
          <p:cNvPr id="5" name="profile.png" descr="profile.png">    </p:cNvPr>
          <p:cNvPicPr>
            <a:picLocks noChangeAspect="1"/>
          </p:cNvPicPr>
          <p:nvPr/>
        </p:nvPicPr>
        <p:blipFill>
          <a:blip r:embed="rId1"/>
          <a:stretch>
            <a:fillRect/>
          </a:stretch>
        </p:blipFill>
        <p:spPr>
          <a:xfrm>
            <a:off x="548640" y="2109378"/>
            <a:ext cx="5440680" cy="3142165"/>
          </a:xfrm>
          <a:prstGeom prst="rect">
            <a:avLst/>
          </a:prstGeom>
        </p:spPr>
      </p:pic>
      <p:sp>
        <p:nvSpPr>
          <p:cNvPr id="6" name="Frame connections.png"/>
          <p:cNvSpPr/>
          <p:nvPr/>
        </p:nvSpPr>
        <p:spPr>
          <a:xfrm>
            <a:off x="6153912" y="2092221"/>
            <a:ext cx="5532120" cy="3176479"/>
          </a:xfrm>
          <a:prstGeom prst="rect">
            <a:avLst/>
          </a:prstGeom>
          <a:solidFill>
            <a:schemeClr val="tx2"/>
          </a:solidFill>
          <a:ln w="12700">
            <a:solidFill>
              <a:schemeClr val="accent4"/>
            </a:solidFill>
            <a:prstDash val="solid"/>
          </a:ln>
        </p:spPr>
      </p:sp>
      <p:pic>
        <p:nvPicPr>
          <p:cNvPr id="7" name="connections.png" descr="connections.png">    </p:cNvPr>
          <p:cNvPicPr>
            <a:picLocks noChangeAspect="1"/>
          </p:cNvPicPr>
          <p:nvPr/>
        </p:nvPicPr>
        <p:blipFill>
          <a:blip r:embed="rId2"/>
          <a:stretch>
            <a:fillRect/>
          </a:stretch>
        </p:blipFill>
        <p:spPr>
          <a:xfrm>
            <a:off x="6199632" y="2137941"/>
            <a:ext cx="5440680" cy="3085039"/>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dirty="0">
                <a:solidFill>
                  <a:schemeClr val="accent6"/>
                </a:solidFill>
              </a:rPr>
              <a:t>Public profiles with skills and availability. </a:t>
            </a:r>
            <a:pPr indent="0" marL="0">
              <a:buNone/>
            </a:pPr>
            <a:r>
              <a:rPr lang="en-US" sz="1800" b="1" dirty="0">
                <a:solidFill>
                  <a:schemeClr val="accent3"/>
                </a:solidFill>
              </a:rPr>
              <a:t>Connection requests</a:t>
            </a:r>
            <a:pPr indent="0" marL="0">
              <a:buNone/>
            </a:pPr>
            <a:r>
              <a:rPr lang="en-US" sz="1800" dirty="0">
                <a:solidFill>
                  <a:schemeClr val="accent6"/>
                </a:solidFill>
              </a:rPr>
              <a:t> can be sent, accepted and tracked.</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ARCHITECTURE</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From git push to a running cluster</a:t>
            </a:r>
            <a:endParaRPr lang="en-US" sz="3600" dirty="0"/>
          </a:p>
        </p:txBody>
      </p:sp>
      <p:sp>
        <p:nvSpPr>
          <p:cNvPr id="4" name="Node GitHub repo"/>
          <p:cNvSpPr/>
          <p:nvPr/>
        </p:nvSpPr>
        <p:spPr>
          <a:xfrm>
            <a:off x="548640" y="1691640"/>
            <a:ext cx="2103120" cy="914400"/>
          </a:xfrm>
          <a:prstGeom prst="roundRect">
            <a:avLst>
              <a:gd name="adj" fmla="val 8000"/>
            </a:avLst>
          </a:prstGeom>
          <a:solidFill>
            <a:schemeClr val="accent3"/>
          </a:solidFill>
          <a:ln w="12700">
            <a:solidFill>
              <a:schemeClr val="accent3"/>
            </a:solidFill>
            <a:prstDash val="solid"/>
          </a:ln>
        </p:spPr>
      </p:sp>
      <p:sp>
        <p:nvSpPr>
          <p:cNvPr id="5" name="Text 3"/>
          <p:cNvSpPr txBox="1"/>
          <p:nvPr/>
        </p:nvSpPr>
        <p:spPr>
          <a:xfrm>
            <a:off x="548640" y="1691640"/>
            <a:ext cx="210312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GitHub repo</a:t>
            </a:r>
            <a:endParaRPr lang="en-US" sz="1400" dirty="0"/>
          </a:p>
          <a:p>
            <a:pPr algn="ctr" indent="0" marL="0">
              <a:buNone/>
            </a:pPr>
            <a:r>
              <a:rPr lang="en-US" sz="1400" b="1" dirty="0">
                <a:solidFill>
                  <a:schemeClr val="tx1"/>
                </a:solidFill>
              </a:rPr>
              <a:t>main branch</a:t>
            </a:r>
            <a:endParaRPr lang="en-US" sz="1400" dirty="0"/>
          </a:p>
        </p:txBody>
      </p:sp>
      <p:sp>
        <p:nvSpPr>
          <p:cNvPr id="6" name="Node GitHub Actions"/>
          <p:cNvSpPr/>
          <p:nvPr/>
        </p:nvSpPr>
        <p:spPr>
          <a:xfrm>
            <a:off x="548640" y="3063240"/>
            <a:ext cx="2103120" cy="914400"/>
          </a:xfrm>
          <a:prstGeom prst="roundRect">
            <a:avLst>
              <a:gd name="adj" fmla="val 8000"/>
            </a:avLst>
          </a:prstGeom>
          <a:solidFill>
            <a:schemeClr val="accent4"/>
          </a:solidFill>
          <a:ln w="12700">
            <a:solidFill>
              <a:schemeClr val="accent4"/>
            </a:solidFill>
            <a:prstDash val="solid"/>
          </a:ln>
        </p:spPr>
      </p:sp>
      <p:sp>
        <p:nvSpPr>
          <p:cNvPr id="7" name="Text 5"/>
          <p:cNvSpPr txBox="1"/>
          <p:nvPr/>
        </p:nvSpPr>
        <p:spPr>
          <a:xfrm>
            <a:off x="548640" y="3063240"/>
            <a:ext cx="210312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GitHub Actions</a:t>
            </a:r>
            <a:endParaRPr lang="en-US" sz="1400" dirty="0"/>
          </a:p>
          <a:p>
            <a:pPr algn="ctr" indent="0" marL="0">
              <a:buNone/>
            </a:pPr>
            <a:r>
              <a:rPr lang="en-US" sz="1400" b="1" dirty="0">
                <a:solidFill>
                  <a:schemeClr val="bg1"/>
                </a:solidFill>
              </a:rPr>
              <a:t>CI pipeline</a:t>
            </a:r>
            <a:endParaRPr lang="en-US" sz="1400" dirty="0"/>
          </a:p>
        </p:txBody>
      </p:sp>
      <p:sp>
        <p:nvSpPr>
          <p:cNvPr id="8" name="Node GHCR"/>
          <p:cNvSpPr/>
          <p:nvPr/>
        </p:nvSpPr>
        <p:spPr>
          <a:xfrm>
            <a:off x="548640" y="4434840"/>
            <a:ext cx="2103120" cy="914400"/>
          </a:xfrm>
          <a:prstGeom prst="roundRect">
            <a:avLst>
              <a:gd name="adj" fmla="val 8000"/>
            </a:avLst>
          </a:prstGeom>
          <a:solidFill>
            <a:schemeClr val="accent4"/>
          </a:solidFill>
          <a:ln w="12700">
            <a:solidFill>
              <a:schemeClr val="accent4"/>
            </a:solidFill>
            <a:prstDash val="solid"/>
          </a:ln>
        </p:spPr>
      </p:sp>
      <p:sp>
        <p:nvSpPr>
          <p:cNvPr id="9" name="Text 7"/>
          <p:cNvSpPr txBox="1"/>
          <p:nvPr/>
        </p:nvSpPr>
        <p:spPr>
          <a:xfrm>
            <a:off x="548640" y="4434840"/>
            <a:ext cx="2103120" cy="914400"/>
          </a:xfrm>
          <a:prstGeom prst="rect">
            <a:avLst/>
          </a:prstGeom>
          <a:noFill/>
          <a:ln/>
        </p:spPr>
        <p:txBody>
          <a:bodyPr wrap="square" lIns="635" tIns="635" rIns="635" bIns="635" rtlCol="0" anchor="ctr"/>
          <a:lstStyle/>
          <a:p>
            <a:pPr algn="ctr" indent="0" marL="0">
              <a:buNone/>
            </a:pPr>
            <a:r>
              <a:rPr lang="en-US" sz="1400" b="1" dirty="0">
                <a:solidFill>
                  <a:schemeClr val="bg1"/>
                </a:solidFill>
              </a:rPr>
              <a:t>GHCR</a:t>
            </a:r>
            <a:endParaRPr lang="en-US" sz="1400" dirty="0"/>
          </a:p>
          <a:p>
            <a:pPr algn="ctr" indent="0" marL="0">
              <a:buNone/>
            </a:pPr>
            <a:r>
              <a:rPr lang="en-US" sz="1400" b="1" dirty="0">
                <a:solidFill>
                  <a:schemeClr val="bg1"/>
                </a:solidFill>
              </a:rPr>
              <a:t>images tagged by SHA</a:t>
            </a:r>
            <a:endParaRPr lang="en-US" sz="1400" dirty="0"/>
          </a:p>
        </p:txBody>
      </p:sp>
      <p:sp>
        <p:nvSpPr>
          <p:cNvPr id="10" name="Shape 8"/>
          <p:cNvSpPr/>
          <p:nvPr/>
        </p:nvSpPr>
        <p:spPr>
          <a:xfrm>
            <a:off x="1600200" y="2606040"/>
            <a:ext cx="0" cy="457200"/>
          </a:xfrm>
          <a:prstGeom prst="line">
            <a:avLst/>
          </a:prstGeom>
          <a:noFill/>
          <a:ln w="25400">
            <a:solidFill>
              <a:schemeClr val="accent6"/>
            </a:solidFill>
            <a:prstDash val="solid"/>
            <a:tailEnd type="triangle"/>
          </a:ln>
        </p:spPr>
      </p:sp>
      <p:sp>
        <p:nvSpPr>
          <p:cNvPr id="11" name="Shape 9"/>
          <p:cNvSpPr/>
          <p:nvPr/>
        </p:nvSpPr>
        <p:spPr>
          <a:xfrm>
            <a:off x="1600200" y="3977640"/>
            <a:ext cx="0" cy="457200"/>
          </a:xfrm>
          <a:prstGeom prst="line">
            <a:avLst/>
          </a:prstGeom>
          <a:noFill/>
          <a:ln w="25400">
            <a:solidFill>
              <a:schemeClr val="accent6"/>
            </a:solidFill>
            <a:prstDash val="solid"/>
            <a:tailEnd type="triangle"/>
          </a:ln>
        </p:spPr>
      </p:sp>
      <p:sp>
        <p:nvSpPr>
          <p:cNvPr id="12" name="Text 10"/>
          <p:cNvSpPr txBox="1"/>
          <p:nvPr/>
        </p:nvSpPr>
        <p:spPr>
          <a:xfrm>
            <a:off x="548640" y="5486400"/>
            <a:ext cx="2194560" cy="365760"/>
          </a:xfrm>
          <a:prstGeom prst="rect">
            <a:avLst/>
          </a:prstGeom>
          <a:noFill/>
          <a:ln/>
        </p:spPr>
        <p:txBody>
          <a:bodyPr wrap="square" lIns="0" tIns="0" rIns="0" bIns="0" rtlCol="0" anchor="ctr"/>
          <a:lstStyle/>
          <a:p>
            <a:pPr indent="0" marL="0">
              <a:buNone/>
            </a:pPr>
            <a:r>
              <a:rPr lang="en-US" sz="1200" dirty="0">
                <a:solidFill>
                  <a:schemeClr val="accent6"/>
                </a:solidFill>
              </a:rPr>
              <a:t>pulled by the cluster</a:t>
            </a:r>
            <a:endParaRPr lang="en-US" sz="1200" dirty="0"/>
          </a:p>
        </p:txBody>
      </p:sp>
      <p:sp>
        <p:nvSpPr>
          <p:cNvPr id="13" name="AWS container"/>
          <p:cNvSpPr/>
          <p:nvPr/>
        </p:nvSpPr>
        <p:spPr>
          <a:xfrm>
            <a:off x="3108960" y="1417320"/>
            <a:ext cx="8549640" cy="4846320"/>
          </a:xfrm>
          <a:prstGeom prst="roundRect">
            <a:avLst>
              <a:gd name="adj" fmla="val 1887"/>
            </a:avLst>
          </a:prstGeom>
          <a:solidFill>
            <a:schemeClr val="tx2"/>
          </a:solidFill>
          <a:ln w="12700">
            <a:solidFill>
              <a:schemeClr val="accent4"/>
            </a:solidFill>
            <a:prstDash val="solid"/>
          </a:ln>
        </p:spPr>
      </p:sp>
      <p:sp>
        <p:nvSpPr>
          <p:cNvPr id="14" name="Text 12"/>
          <p:cNvSpPr txBox="1"/>
          <p:nvPr/>
        </p:nvSpPr>
        <p:spPr>
          <a:xfrm>
            <a:off x="3291840" y="1490472"/>
            <a:ext cx="8229600" cy="320040"/>
          </a:xfrm>
          <a:prstGeom prst="rect">
            <a:avLst/>
          </a:prstGeom>
          <a:noFill/>
          <a:ln/>
        </p:spPr>
        <p:txBody>
          <a:bodyPr wrap="square" lIns="0" tIns="0" rIns="0" bIns="0" rtlCol="0" anchor="ctr"/>
          <a:lstStyle/>
          <a:p>
            <a:pPr indent="0" marL="0">
              <a:buNone/>
            </a:pPr>
            <a:r>
              <a:rPr lang="en-US" sz="1400" b="1" dirty="0">
                <a:solidFill>
                  <a:schemeClr val="accent6"/>
                </a:solidFill>
              </a:rPr>
              <a:t>AWS ap-south-1  |  Terraform: VPC (2 AZs) + EKS 1.35, 2 x m7i-flex.large</a:t>
            </a:r>
            <a:endParaRPr lang="en-US" sz="1400" dirty="0"/>
          </a:p>
        </p:txBody>
      </p:sp>
      <p:sp>
        <p:nvSpPr>
          <p:cNvPr id="15" name="Node Browser"/>
          <p:cNvSpPr/>
          <p:nvPr/>
        </p:nvSpPr>
        <p:spPr>
          <a:xfrm>
            <a:off x="3383280" y="2194560"/>
            <a:ext cx="1371600" cy="731520"/>
          </a:xfrm>
          <a:prstGeom prst="roundRect">
            <a:avLst>
              <a:gd name="adj" fmla="val 10000"/>
            </a:avLst>
          </a:prstGeom>
          <a:solidFill>
            <a:schemeClr val="accent3"/>
          </a:solidFill>
          <a:ln w="12700">
            <a:solidFill>
              <a:schemeClr val="accent3"/>
            </a:solidFill>
            <a:prstDash val="solid"/>
          </a:ln>
        </p:spPr>
      </p:sp>
      <p:sp>
        <p:nvSpPr>
          <p:cNvPr id="16" name="Text 14"/>
          <p:cNvSpPr txBox="1"/>
          <p:nvPr/>
        </p:nvSpPr>
        <p:spPr>
          <a:xfrm>
            <a:off x="3383280" y="2194560"/>
            <a:ext cx="137160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Browser</a:t>
            </a:r>
            <a:endParaRPr lang="en-US" sz="1400" dirty="0"/>
          </a:p>
        </p:txBody>
      </p:sp>
      <p:sp>
        <p:nvSpPr>
          <p:cNvPr id="17" name="Node Load balancer"/>
          <p:cNvSpPr/>
          <p:nvPr/>
        </p:nvSpPr>
        <p:spPr>
          <a:xfrm>
            <a:off x="5212080" y="2194560"/>
            <a:ext cx="1463040" cy="731520"/>
          </a:xfrm>
          <a:prstGeom prst="roundRect">
            <a:avLst>
              <a:gd name="adj" fmla="val 10000"/>
            </a:avLst>
          </a:prstGeom>
          <a:solidFill>
            <a:schemeClr val="accent2"/>
          </a:solidFill>
          <a:ln w="12700">
            <a:solidFill>
              <a:schemeClr val="accent2"/>
            </a:solidFill>
            <a:prstDash val="solid"/>
          </a:ln>
        </p:spPr>
      </p:sp>
      <p:sp>
        <p:nvSpPr>
          <p:cNvPr id="18" name="Text 16"/>
          <p:cNvSpPr txBox="1"/>
          <p:nvPr/>
        </p:nvSpPr>
        <p:spPr>
          <a:xfrm>
            <a:off x="5212080" y="2194560"/>
            <a:ext cx="146304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Load balancer</a:t>
            </a:r>
            <a:endParaRPr lang="en-US" sz="1400" dirty="0"/>
          </a:p>
        </p:txBody>
      </p:sp>
      <p:sp>
        <p:nvSpPr>
          <p:cNvPr id="19" name="Node Traefik"/>
          <p:cNvSpPr/>
          <p:nvPr/>
        </p:nvSpPr>
        <p:spPr>
          <a:xfrm>
            <a:off x="7132320" y="2194560"/>
            <a:ext cx="1371600" cy="731520"/>
          </a:xfrm>
          <a:prstGeom prst="roundRect">
            <a:avLst>
              <a:gd name="adj" fmla="val 10000"/>
            </a:avLst>
          </a:prstGeom>
          <a:solidFill>
            <a:schemeClr val="accent2"/>
          </a:solidFill>
          <a:ln w="12700">
            <a:solidFill>
              <a:schemeClr val="accent2"/>
            </a:solidFill>
            <a:prstDash val="solid"/>
          </a:ln>
        </p:spPr>
      </p:sp>
      <p:sp>
        <p:nvSpPr>
          <p:cNvPr id="20" name="Text 18"/>
          <p:cNvSpPr txBox="1"/>
          <p:nvPr/>
        </p:nvSpPr>
        <p:spPr>
          <a:xfrm>
            <a:off x="7132320" y="2194560"/>
            <a:ext cx="137160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Traefik</a:t>
            </a:r>
            <a:endParaRPr lang="en-US" sz="1400" dirty="0"/>
          </a:p>
          <a:p>
            <a:pPr algn="ctr" indent="0" marL="0">
              <a:buNone/>
            </a:pPr>
            <a:r>
              <a:rPr lang="en-US" sz="1400" b="1" dirty="0">
                <a:solidFill>
                  <a:schemeClr val="tx1"/>
                </a:solidFill>
              </a:rPr>
              <a:t>ingress</a:t>
            </a:r>
            <a:endParaRPr lang="en-US" sz="1400" dirty="0"/>
          </a:p>
        </p:txBody>
      </p:sp>
      <p:sp>
        <p:nvSpPr>
          <p:cNvPr id="21" name="Node Frontend"/>
          <p:cNvSpPr/>
          <p:nvPr/>
        </p:nvSpPr>
        <p:spPr>
          <a:xfrm>
            <a:off x="9235440" y="1920240"/>
            <a:ext cx="2194560" cy="731520"/>
          </a:xfrm>
          <a:prstGeom prst="roundRect">
            <a:avLst>
              <a:gd name="adj" fmla="val 10000"/>
            </a:avLst>
          </a:prstGeom>
          <a:solidFill>
            <a:schemeClr val="accent1"/>
          </a:solidFill>
          <a:ln w="12700">
            <a:solidFill>
              <a:schemeClr val="accent1"/>
            </a:solidFill>
            <a:prstDash val="solid"/>
          </a:ln>
        </p:spPr>
      </p:sp>
      <p:sp>
        <p:nvSpPr>
          <p:cNvPr id="22" name="Text 20"/>
          <p:cNvSpPr txBox="1"/>
          <p:nvPr/>
        </p:nvSpPr>
        <p:spPr>
          <a:xfrm>
            <a:off x="9235440" y="1920240"/>
            <a:ext cx="219456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Frontend</a:t>
            </a:r>
            <a:endParaRPr lang="en-US" sz="1400" dirty="0"/>
          </a:p>
          <a:p>
            <a:pPr algn="ctr" indent="0" marL="0">
              <a:buNone/>
            </a:pPr>
            <a:r>
              <a:rPr lang="en-US" sz="1400" b="1" dirty="0">
                <a:solidFill>
                  <a:schemeClr val="tx1"/>
                </a:solidFill>
              </a:rPr>
              <a:t>React + nginx</a:t>
            </a:r>
            <a:endParaRPr lang="en-US" sz="1400" dirty="0"/>
          </a:p>
        </p:txBody>
      </p:sp>
      <p:sp>
        <p:nvSpPr>
          <p:cNvPr id="23" name="Node Backend FastAPI"/>
          <p:cNvSpPr/>
          <p:nvPr/>
        </p:nvSpPr>
        <p:spPr>
          <a:xfrm>
            <a:off x="9235440" y="2971800"/>
            <a:ext cx="2194560" cy="731520"/>
          </a:xfrm>
          <a:prstGeom prst="roundRect">
            <a:avLst>
              <a:gd name="adj" fmla="val 10000"/>
            </a:avLst>
          </a:prstGeom>
          <a:solidFill>
            <a:schemeClr val="accent1"/>
          </a:solidFill>
          <a:ln w="12700">
            <a:solidFill>
              <a:schemeClr val="accent1"/>
            </a:solidFill>
            <a:prstDash val="solid"/>
          </a:ln>
        </p:spPr>
      </p:sp>
      <p:sp>
        <p:nvSpPr>
          <p:cNvPr id="24" name="Text 22"/>
          <p:cNvSpPr txBox="1"/>
          <p:nvPr/>
        </p:nvSpPr>
        <p:spPr>
          <a:xfrm>
            <a:off x="9235440" y="2971800"/>
            <a:ext cx="219456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Backend FastAPI</a:t>
            </a:r>
            <a:endParaRPr lang="en-US" sz="1400" dirty="0"/>
          </a:p>
          <a:p>
            <a:pPr algn="ctr" indent="0" marL="0">
              <a:buNone/>
            </a:pPr>
            <a:r>
              <a:rPr lang="en-US" sz="1400" b="1" dirty="0">
                <a:solidFill>
                  <a:schemeClr val="tx1"/>
                </a:solidFill>
              </a:rPr>
              <a:t>HPA 2 to 5</a:t>
            </a:r>
            <a:endParaRPr lang="en-US" sz="1400" dirty="0"/>
          </a:p>
        </p:txBody>
      </p:sp>
      <p:sp>
        <p:nvSpPr>
          <p:cNvPr id="25" name="Node PostgreSQL"/>
          <p:cNvSpPr/>
          <p:nvPr/>
        </p:nvSpPr>
        <p:spPr>
          <a:xfrm>
            <a:off x="9235440" y="4023360"/>
            <a:ext cx="2194560" cy="731520"/>
          </a:xfrm>
          <a:prstGeom prst="roundRect">
            <a:avLst>
              <a:gd name="adj" fmla="val 10000"/>
            </a:avLst>
          </a:prstGeom>
          <a:solidFill>
            <a:schemeClr val="accent5"/>
          </a:solidFill>
          <a:ln w="12700">
            <a:solidFill>
              <a:schemeClr val="accent5"/>
            </a:solidFill>
            <a:prstDash val="solid"/>
          </a:ln>
        </p:spPr>
      </p:sp>
      <p:sp>
        <p:nvSpPr>
          <p:cNvPr id="26" name="Text 24"/>
          <p:cNvSpPr txBox="1"/>
          <p:nvPr/>
        </p:nvSpPr>
        <p:spPr>
          <a:xfrm>
            <a:off x="9235440" y="4023360"/>
            <a:ext cx="2194560" cy="731520"/>
          </a:xfrm>
          <a:prstGeom prst="rect">
            <a:avLst/>
          </a:prstGeom>
          <a:noFill/>
          <a:ln/>
        </p:spPr>
        <p:txBody>
          <a:bodyPr wrap="square" lIns="635" tIns="635" rIns="635" bIns="635" rtlCol="0" anchor="ctr"/>
          <a:lstStyle/>
          <a:p>
            <a:pPr algn="ctr" indent="0" marL="0">
              <a:buNone/>
            </a:pPr>
            <a:r>
              <a:rPr lang="en-US" sz="1400" b="1" dirty="0">
                <a:solidFill>
                  <a:schemeClr val="tx1"/>
                </a:solidFill>
              </a:rPr>
              <a:t>PostgreSQL</a:t>
            </a:r>
            <a:endParaRPr lang="en-US" sz="1400" dirty="0"/>
          </a:p>
          <a:p>
            <a:pPr algn="ctr" indent="0" marL="0">
              <a:buNone/>
            </a:pPr>
            <a:r>
              <a:rPr lang="en-US" sz="1400" b="1" dirty="0">
                <a:solidFill>
                  <a:schemeClr val="tx1"/>
                </a:solidFill>
              </a:rPr>
              <a:t>+ gp3 volume</a:t>
            </a:r>
            <a:endParaRPr lang="en-US" sz="1400" dirty="0"/>
          </a:p>
        </p:txBody>
      </p:sp>
      <p:sp>
        <p:nvSpPr>
          <p:cNvPr id="27" name="Shape 25"/>
          <p:cNvSpPr/>
          <p:nvPr/>
        </p:nvSpPr>
        <p:spPr>
          <a:xfrm>
            <a:off x="4754880" y="2560320"/>
            <a:ext cx="457200" cy="0"/>
          </a:xfrm>
          <a:prstGeom prst="line">
            <a:avLst/>
          </a:prstGeom>
          <a:noFill/>
          <a:ln w="25400">
            <a:solidFill>
              <a:schemeClr val="accent6"/>
            </a:solidFill>
            <a:prstDash val="solid"/>
            <a:tailEnd type="triangle"/>
          </a:ln>
        </p:spPr>
      </p:sp>
      <p:sp>
        <p:nvSpPr>
          <p:cNvPr id="28" name="Shape 26"/>
          <p:cNvSpPr/>
          <p:nvPr/>
        </p:nvSpPr>
        <p:spPr>
          <a:xfrm>
            <a:off x="6675120" y="2560320"/>
            <a:ext cx="457200" cy="0"/>
          </a:xfrm>
          <a:prstGeom prst="line">
            <a:avLst/>
          </a:prstGeom>
          <a:noFill/>
          <a:ln w="25400">
            <a:solidFill>
              <a:schemeClr val="accent6"/>
            </a:solidFill>
            <a:prstDash val="solid"/>
            <a:tailEnd type="triangle"/>
          </a:ln>
        </p:spPr>
      </p:sp>
      <p:sp>
        <p:nvSpPr>
          <p:cNvPr id="29" name="Shape 27"/>
          <p:cNvSpPr/>
          <p:nvPr/>
        </p:nvSpPr>
        <p:spPr>
          <a:xfrm flipV="1">
            <a:off x="8503920" y="2286000"/>
            <a:ext cx="731520" cy="137160"/>
          </a:xfrm>
          <a:prstGeom prst="line">
            <a:avLst/>
          </a:prstGeom>
          <a:noFill/>
          <a:ln w="25400">
            <a:solidFill>
              <a:schemeClr val="accent6"/>
            </a:solidFill>
            <a:prstDash val="solid"/>
            <a:tailEnd type="triangle"/>
          </a:ln>
        </p:spPr>
      </p:sp>
      <p:sp>
        <p:nvSpPr>
          <p:cNvPr id="30" name="Shape 28"/>
          <p:cNvSpPr/>
          <p:nvPr/>
        </p:nvSpPr>
        <p:spPr>
          <a:xfrm>
            <a:off x="8503920" y="2697480"/>
            <a:ext cx="731520" cy="640080"/>
          </a:xfrm>
          <a:prstGeom prst="line">
            <a:avLst/>
          </a:prstGeom>
          <a:noFill/>
          <a:ln w="25400">
            <a:solidFill>
              <a:schemeClr val="accent6"/>
            </a:solidFill>
            <a:prstDash val="solid"/>
            <a:tailEnd type="triangle"/>
          </a:ln>
        </p:spPr>
      </p:sp>
      <p:sp>
        <p:nvSpPr>
          <p:cNvPr id="31" name="Shape 29"/>
          <p:cNvSpPr/>
          <p:nvPr/>
        </p:nvSpPr>
        <p:spPr>
          <a:xfrm>
            <a:off x="10332720" y="3703320"/>
            <a:ext cx="0" cy="320040"/>
          </a:xfrm>
          <a:prstGeom prst="line">
            <a:avLst/>
          </a:prstGeom>
          <a:noFill/>
          <a:ln w="25400">
            <a:solidFill>
              <a:schemeClr val="accent6"/>
            </a:solidFill>
            <a:prstDash val="solid"/>
            <a:tailEnd type="triangle"/>
          </a:ln>
        </p:spPr>
      </p:sp>
      <p:sp>
        <p:nvSpPr>
          <p:cNvPr id="32" name="Node Prometheus + Grafana"/>
          <p:cNvSpPr/>
          <p:nvPr/>
        </p:nvSpPr>
        <p:spPr>
          <a:xfrm>
            <a:off x="3383280" y="4206240"/>
            <a:ext cx="3017520" cy="1188720"/>
          </a:xfrm>
          <a:prstGeom prst="roundRect">
            <a:avLst>
              <a:gd name="adj" fmla="val 6154"/>
            </a:avLst>
          </a:prstGeom>
          <a:solidFill>
            <a:schemeClr val="accent4"/>
          </a:solidFill>
          <a:ln w="12700">
            <a:solidFill>
              <a:schemeClr val="accent4"/>
            </a:solidFill>
            <a:prstDash val="solid"/>
          </a:ln>
        </p:spPr>
      </p:sp>
      <p:sp>
        <p:nvSpPr>
          <p:cNvPr id="33" name="Text 31"/>
          <p:cNvSpPr txBox="1"/>
          <p:nvPr/>
        </p:nvSpPr>
        <p:spPr>
          <a:xfrm>
            <a:off x="3383280" y="4206240"/>
            <a:ext cx="3017520" cy="1188720"/>
          </a:xfrm>
          <a:prstGeom prst="rect">
            <a:avLst/>
          </a:prstGeom>
          <a:noFill/>
          <a:ln/>
        </p:spPr>
        <p:txBody>
          <a:bodyPr wrap="square" lIns="635" tIns="635" rIns="635" bIns="635" rtlCol="0" anchor="ctr"/>
          <a:lstStyle/>
          <a:p>
            <a:pPr algn="ctr" indent="0" marL="0">
              <a:buNone/>
            </a:pPr>
            <a:r>
              <a:rPr lang="en-US" sz="1400" b="1" dirty="0">
                <a:solidFill>
                  <a:schemeClr val="bg1"/>
                </a:solidFill>
              </a:rPr>
              <a:t>Prometheus + Grafana</a:t>
            </a:r>
            <a:endParaRPr lang="en-US" sz="1400" dirty="0"/>
          </a:p>
          <a:p>
            <a:pPr algn="ctr" indent="0" marL="0">
              <a:buNone/>
            </a:pPr>
            <a:r>
              <a:rPr lang="en-US" sz="1400" b="1" dirty="0">
                <a:solidFill>
                  <a:schemeClr val="bg1"/>
                </a:solidFill>
              </a:rPr>
              <a:t>scrape /metrics, dashboards</a:t>
            </a:r>
            <a:endParaRPr lang="en-US" sz="1400" dirty="0"/>
          </a:p>
        </p:txBody>
      </p:sp>
      <p:sp>
        <p:nvSpPr>
          <p:cNvPr id="34" name="Node ArgoCD"/>
          <p:cNvSpPr/>
          <p:nvPr/>
        </p:nvSpPr>
        <p:spPr>
          <a:xfrm>
            <a:off x="6675120" y="4206240"/>
            <a:ext cx="2286000" cy="1188720"/>
          </a:xfrm>
          <a:prstGeom prst="roundRect">
            <a:avLst>
              <a:gd name="adj" fmla="val 6154"/>
            </a:avLst>
          </a:prstGeom>
          <a:solidFill>
            <a:schemeClr val="accent4"/>
          </a:solidFill>
          <a:ln w="12700">
            <a:solidFill>
              <a:schemeClr val="accent4"/>
            </a:solidFill>
            <a:prstDash val="solid"/>
          </a:ln>
        </p:spPr>
      </p:sp>
      <p:sp>
        <p:nvSpPr>
          <p:cNvPr id="35" name="Text 33"/>
          <p:cNvSpPr txBox="1"/>
          <p:nvPr/>
        </p:nvSpPr>
        <p:spPr>
          <a:xfrm>
            <a:off x="6675120" y="4206240"/>
            <a:ext cx="2286000" cy="1188720"/>
          </a:xfrm>
          <a:prstGeom prst="rect">
            <a:avLst/>
          </a:prstGeom>
          <a:noFill/>
          <a:ln/>
        </p:spPr>
        <p:txBody>
          <a:bodyPr wrap="square" lIns="635" tIns="635" rIns="635" bIns="635" rtlCol="0" anchor="ctr"/>
          <a:lstStyle/>
          <a:p>
            <a:pPr algn="ctr" indent="0" marL="0">
              <a:buNone/>
            </a:pPr>
            <a:r>
              <a:rPr lang="en-US" sz="1300" b="1" dirty="0">
                <a:solidFill>
                  <a:schemeClr val="bg1"/>
                </a:solidFill>
              </a:rPr>
              <a:t>ArgoCD</a:t>
            </a:r>
            <a:endParaRPr lang="en-US" sz="1300" dirty="0"/>
          </a:p>
          <a:p>
            <a:pPr algn="ctr" indent="0" marL="0">
              <a:buNone/>
            </a:pPr>
            <a:r>
              <a:rPr lang="en-US" sz="1300" b="1" dirty="0">
                <a:solidFill>
                  <a:schemeClr val="bg1"/>
                </a:solidFill>
              </a:rPr>
              <a:t>auto-sync, prune, self-heal</a:t>
            </a:r>
            <a:endParaRPr lang="en-US" sz="1300" dirty="0"/>
          </a:p>
          <a:p>
            <a:pPr algn="ctr" indent="0" marL="0">
              <a:buNone/>
            </a:pPr>
            <a:r>
              <a:rPr lang="en-US" sz="1300" b="1" dirty="0">
                <a:solidFill>
                  <a:schemeClr val="bg1"/>
                </a:solidFill>
              </a:rPr>
              <a:t>watches the GitHub repo</a:t>
            </a:r>
            <a:endParaRPr lang="en-US" sz="1300" dirty="0"/>
          </a:p>
        </p:txBody>
      </p:sp>
      <p:sp>
        <p:nvSpPr>
          <p:cNvPr id="36" name="Text 34"/>
          <p:cNvSpPr txBox="1"/>
          <p:nvPr/>
        </p:nvSpPr>
        <p:spPr>
          <a:xfrm>
            <a:off x="3383280" y="5623560"/>
            <a:ext cx="8046720" cy="457200"/>
          </a:xfrm>
          <a:prstGeom prst="rect">
            <a:avLst/>
          </a:prstGeom>
          <a:noFill/>
          <a:ln/>
        </p:spPr>
        <p:txBody>
          <a:bodyPr wrap="square" lIns="0" tIns="0" rIns="0" bIns="0" rtlCol="0" anchor="ctr"/>
          <a:lstStyle/>
          <a:p>
            <a:pPr indent="0" marL="0">
              <a:buNone/>
            </a:pPr>
            <a:r>
              <a:rPr lang="en-US" sz="1300" dirty="0">
                <a:solidFill>
                  <a:schemeClr val="accent6"/>
                </a:solidFill>
              </a:rPr>
              <a:t>Nodes sit in private subnets. The load balancer and NAT gateway sit in public subnets.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TECH STACK</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What it is built with</a:t>
            </a:r>
            <a:endParaRPr lang="en-US" sz="3600" dirty="0"/>
          </a:p>
        </p:txBody>
      </p:sp>
      <p:sp>
        <p:nvSpPr>
          <p:cNvPr id="4" name="Tile App"/>
          <p:cNvSpPr/>
          <p:nvPr/>
        </p:nvSpPr>
        <p:spPr>
          <a:xfrm>
            <a:off x="548640" y="1600200"/>
            <a:ext cx="2651760" cy="2148840"/>
          </a:xfrm>
          <a:prstGeom prst="roundRect">
            <a:avLst>
              <a:gd name="adj" fmla="val 4255"/>
            </a:avLst>
          </a:prstGeom>
          <a:solidFill>
            <a:schemeClr val="tx2"/>
          </a:solidFill>
          <a:ln w="12700">
            <a:solidFill>
              <a:schemeClr val="tx2"/>
            </a:solidFill>
            <a:prstDash val="solid"/>
          </a:ln>
        </p:spPr>
      </p:sp>
      <p:sp>
        <p:nvSpPr>
          <p:cNvPr id="5" name="Text 3"/>
          <p:cNvSpPr txBox="1"/>
          <p:nvPr/>
        </p:nvSpPr>
        <p:spPr>
          <a:xfrm>
            <a:off x="822960" y="1856232"/>
            <a:ext cx="210312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APP</a:t>
            </a:r>
            <a:endParaRPr lang="en-US" sz="1400" dirty="0"/>
          </a:p>
        </p:txBody>
      </p:sp>
      <p:sp>
        <p:nvSpPr>
          <p:cNvPr id="6" name="Text 4"/>
          <p:cNvSpPr txBox="1"/>
          <p:nvPr/>
        </p:nvSpPr>
        <p:spPr>
          <a:xfrm>
            <a:off x="822960" y="2331720"/>
            <a:ext cx="2103120" cy="1234440"/>
          </a:xfrm>
          <a:prstGeom prst="rect">
            <a:avLst/>
          </a:prstGeom>
          <a:noFill/>
          <a:ln/>
        </p:spPr>
        <p:txBody>
          <a:bodyPr wrap="square" lIns="0" tIns="0" rIns="0" bIns="0" rtlCol="0" anchor="t"/>
          <a:lstStyle/>
          <a:p>
            <a:pPr indent="0" marL="0">
              <a:buNone/>
            </a:pPr>
            <a:r>
              <a:rPr lang="en-US" sz="1800" dirty="0">
                <a:solidFill>
                  <a:schemeClr val="bg1"/>
                </a:solidFill>
              </a:rPr>
              <a:t>React + Vite, FastAPI, SQLAlchemy, PostgreSQL</a:t>
            </a:r>
            <a:endParaRPr lang="en-US" sz="1800" dirty="0"/>
          </a:p>
        </p:txBody>
      </p:sp>
      <p:sp>
        <p:nvSpPr>
          <p:cNvPr id="7" name="Tile Quality"/>
          <p:cNvSpPr/>
          <p:nvPr/>
        </p:nvSpPr>
        <p:spPr>
          <a:xfrm>
            <a:off x="3355848" y="1600200"/>
            <a:ext cx="2651760" cy="2148840"/>
          </a:xfrm>
          <a:prstGeom prst="roundRect">
            <a:avLst>
              <a:gd name="adj" fmla="val 4255"/>
            </a:avLst>
          </a:prstGeom>
          <a:solidFill>
            <a:schemeClr val="tx2"/>
          </a:solidFill>
          <a:ln w="12700">
            <a:solidFill>
              <a:schemeClr val="tx2"/>
            </a:solidFill>
            <a:prstDash val="solid"/>
          </a:ln>
        </p:spPr>
      </p:sp>
      <p:sp>
        <p:nvSpPr>
          <p:cNvPr id="8" name="Text 6"/>
          <p:cNvSpPr txBox="1"/>
          <p:nvPr/>
        </p:nvSpPr>
        <p:spPr>
          <a:xfrm>
            <a:off x="3630168" y="1856232"/>
            <a:ext cx="2103120" cy="320040"/>
          </a:xfrm>
          <a:prstGeom prst="rect">
            <a:avLst/>
          </a:prstGeom>
          <a:noFill/>
          <a:ln/>
        </p:spPr>
        <p:txBody>
          <a:bodyPr wrap="square" lIns="0" tIns="0" rIns="0" bIns="0" rtlCol="0" anchor="ctr"/>
          <a:lstStyle/>
          <a:p>
            <a:pPr indent="0" marL="0">
              <a:buNone/>
            </a:pPr>
            <a:r>
              <a:rPr lang="en-US" sz="1400" b="1" spc="200" kern="0" dirty="0">
                <a:solidFill>
                  <a:schemeClr val="accent5"/>
                </a:solidFill>
              </a:rPr>
              <a:t>QUALITY</a:t>
            </a:r>
            <a:endParaRPr lang="en-US" sz="1400" dirty="0"/>
          </a:p>
        </p:txBody>
      </p:sp>
      <p:sp>
        <p:nvSpPr>
          <p:cNvPr id="9" name="Text 7"/>
          <p:cNvSpPr txBox="1"/>
          <p:nvPr/>
        </p:nvSpPr>
        <p:spPr>
          <a:xfrm>
            <a:off x="3630168" y="2331720"/>
            <a:ext cx="2103120" cy="1234440"/>
          </a:xfrm>
          <a:prstGeom prst="rect">
            <a:avLst/>
          </a:prstGeom>
          <a:noFill/>
          <a:ln/>
        </p:spPr>
        <p:txBody>
          <a:bodyPr wrap="square" lIns="0" tIns="0" rIns="0" bIns="0" rtlCol="0" anchor="t"/>
          <a:lstStyle/>
          <a:p>
            <a:pPr indent="0" marL="0">
              <a:buNone/>
            </a:pPr>
            <a:r>
              <a:rPr lang="en-US" sz="1800" dirty="0">
                <a:solidFill>
                  <a:schemeClr val="bg1"/>
                </a:solidFill>
              </a:rPr>
              <a:t>pytest with a 90% coverage gate, ruff, ESLint, Vitest</a:t>
            </a:r>
            <a:endParaRPr lang="en-US" sz="1800" dirty="0"/>
          </a:p>
        </p:txBody>
      </p:sp>
      <p:sp>
        <p:nvSpPr>
          <p:cNvPr id="10" name="Tile Security"/>
          <p:cNvSpPr/>
          <p:nvPr/>
        </p:nvSpPr>
        <p:spPr>
          <a:xfrm>
            <a:off x="6163056" y="1600200"/>
            <a:ext cx="2651760" cy="2148840"/>
          </a:xfrm>
          <a:prstGeom prst="roundRect">
            <a:avLst>
              <a:gd name="adj" fmla="val 4255"/>
            </a:avLst>
          </a:prstGeom>
          <a:solidFill>
            <a:schemeClr val="tx2"/>
          </a:solidFill>
          <a:ln w="12700">
            <a:solidFill>
              <a:schemeClr val="tx2"/>
            </a:solidFill>
            <a:prstDash val="solid"/>
          </a:ln>
        </p:spPr>
      </p:sp>
      <p:sp>
        <p:nvSpPr>
          <p:cNvPr id="11" name="Text 9"/>
          <p:cNvSpPr txBox="1"/>
          <p:nvPr/>
        </p:nvSpPr>
        <p:spPr>
          <a:xfrm>
            <a:off x="6437376" y="1856232"/>
            <a:ext cx="2103120" cy="320040"/>
          </a:xfrm>
          <a:prstGeom prst="rect">
            <a:avLst/>
          </a:prstGeom>
          <a:noFill/>
          <a:ln/>
        </p:spPr>
        <p:txBody>
          <a:bodyPr wrap="square" lIns="0" tIns="0" rIns="0" bIns="0" rtlCol="0" anchor="ctr"/>
          <a:lstStyle/>
          <a:p>
            <a:pPr indent="0" marL="0">
              <a:buNone/>
            </a:pPr>
            <a:r>
              <a:rPr lang="en-US" sz="1400" b="1" spc="200" kern="0" dirty="0">
                <a:solidFill>
                  <a:schemeClr val="accent3"/>
                </a:solidFill>
              </a:rPr>
              <a:t>SECURITY</a:t>
            </a:r>
            <a:endParaRPr lang="en-US" sz="1400" dirty="0"/>
          </a:p>
        </p:txBody>
      </p:sp>
      <p:sp>
        <p:nvSpPr>
          <p:cNvPr id="12" name="Text 10"/>
          <p:cNvSpPr txBox="1"/>
          <p:nvPr/>
        </p:nvSpPr>
        <p:spPr>
          <a:xfrm>
            <a:off x="6437376" y="2331720"/>
            <a:ext cx="2103120" cy="1234440"/>
          </a:xfrm>
          <a:prstGeom prst="rect">
            <a:avLst/>
          </a:prstGeom>
          <a:noFill/>
          <a:ln/>
        </p:spPr>
        <p:txBody>
          <a:bodyPr wrap="square" lIns="0" tIns="0" rIns="0" bIns="0" rtlCol="0" anchor="t"/>
          <a:lstStyle/>
          <a:p>
            <a:pPr indent="0" marL="0">
              <a:buNone/>
            </a:pPr>
            <a:r>
              <a:rPr lang="en-US" sz="1800" dirty="0">
                <a:solidFill>
                  <a:schemeClr val="bg1"/>
                </a:solidFill>
              </a:rPr>
              <a:t>gitleaks, Trivy, Dependabot, CodeQL</a:t>
            </a:r>
            <a:endParaRPr lang="en-US" sz="1800" dirty="0"/>
          </a:p>
        </p:txBody>
      </p:sp>
      <p:sp>
        <p:nvSpPr>
          <p:cNvPr id="13" name="Tile Containers"/>
          <p:cNvSpPr/>
          <p:nvPr/>
        </p:nvSpPr>
        <p:spPr>
          <a:xfrm>
            <a:off x="8970264" y="1600200"/>
            <a:ext cx="2651760" cy="2148840"/>
          </a:xfrm>
          <a:prstGeom prst="roundRect">
            <a:avLst>
              <a:gd name="adj" fmla="val 4255"/>
            </a:avLst>
          </a:prstGeom>
          <a:solidFill>
            <a:schemeClr val="tx2"/>
          </a:solidFill>
          <a:ln w="12700">
            <a:solidFill>
              <a:schemeClr val="tx2"/>
            </a:solidFill>
            <a:prstDash val="solid"/>
          </a:ln>
        </p:spPr>
      </p:sp>
      <p:sp>
        <p:nvSpPr>
          <p:cNvPr id="14" name="Text 12"/>
          <p:cNvSpPr txBox="1"/>
          <p:nvPr/>
        </p:nvSpPr>
        <p:spPr>
          <a:xfrm>
            <a:off x="9244584" y="1856232"/>
            <a:ext cx="2103120" cy="320040"/>
          </a:xfrm>
          <a:prstGeom prst="rect">
            <a:avLst/>
          </a:prstGeom>
          <a:noFill/>
          <a:ln/>
        </p:spPr>
        <p:txBody>
          <a:bodyPr wrap="square" lIns="0" tIns="0" rIns="0" bIns="0" rtlCol="0" anchor="ctr"/>
          <a:lstStyle/>
          <a:p>
            <a:pPr indent="0" marL="0">
              <a:buNone/>
            </a:pPr>
            <a:r>
              <a:rPr lang="en-US" sz="1400" b="1" spc="200" kern="0" dirty="0">
                <a:solidFill>
                  <a:schemeClr val="accent2"/>
                </a:solidFill>
              </a:rPr>
              <a:t>CONTAINERS</a:t>
            </a:r>
            <a:endParaRPr lang="en-US" sz="1400" dirty="0"/>
          </a:p>
        </p:txBody>
      </p:sp>
      <p:sp>
        <p:nvSpPr>
          <p:cNvPr id="15" name="Text 13"/>
          <p:cNvSpPr txBox="1"/>
          <p:nvPr/>
        </p:nvSpPr>
        <p:spPr>
          <a:xfrm>
            <a:off x="9244584" y="2331720"/>
            <a:ext cx="2103120" cy="1234440"/>
          </a:xfrm>
          <a:prstGeom prst="rect">
            <a:avLst/>
          </a:prstGeom>
          <a:noFill/>
          <a:ln/>
        </p:spPr>
        <p:txBody>
          <a:bodyPr wrap="square" lIns="0" tIns="0" rIns="0" bIns="0" rtlCol="0" anchor="t"/>
          <a:lstStyle/>
          <a:p>
            <a:pPr indent="0" marL="0">
              <a:buNone/>
            </a:pPr>
            <a:r>
              <a:rPr lang="en-US" sz="1800" dirty="0">
                <a:solidFill>
                  <a:schemeClr val="bg1"/>
                </a:solidFill>
              </a:rPr>
              <a:t>Multi-stage Docker builds, non-root users</a:t>
            </a:r>
            <a:endParaRPr lang="en-US" sz="1800" dirty="0"/>
          </a:p>
        </p:txBody>
      </p:sp>
      <p:sp>
        <p:nvSpPr>
          <p:cNvPr id="16" name="Tile CI/CD"/>
          <p:cNvSpPr/>
          <p:nvPr/>
        </p:nvSpPr>
        <p:spPr>
          <a:xfrm>
            <a:off x="548640" y="3931920"/>
            <a:ext cx="2651760" cy="2148840"/>
          </a:xfrm>
          <a:prstGeom prst="roundRect">
            <a:avLst>
              <a:gd name="adj" fmla="val 4255"/>
            </a:avLst>
          </a:prstGeom>
          <a:solidFill>
            <a:schemeClr val="tx2"/>
          </a:solidFill>
          <a:ln w="12700">
            <a:solidFill>
              <a:schemeClr val="tx2"/>
            </a:solidFill>
            <a:prstDash val="solid"/>
          </a:ln>
        </p:spPr>
      </p:sp>
      <p:sp>
        <p:nvSpPr>
          <p:cNvPr id="17" name="Text 15"/>
          <p:cNvSpPr txBox="1"/>
          <p:nvPr/>
        </p:nvSpPr>
        <p:spPr>
          <a:xfrm>
            <a:off x="822960" y="4187952"/>
            <a:ext cx="210312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CI/CD</a:t>
            </a:r>
            <a:endParaRPr lang="en-US" sz="1400" dirty="0"/>
          </a:p>
        </p:txBody>
      </p:sp>
      <p:sp>
        <p:nvSpPr>
          <p:cNvPr id="18" name="Text 16"/>
          <p:cNvSpPr txBox="1"/>
          <p:nvPr/>
        </p:nvSpPr>
        <p:spPr>
          <a:xfrm>
            <a:off x="822960" y="4663440"/>
            <a:ext cx="2103120" cy="1234440"/>
          </a:xfrm>
          <a:prstGeom prst="rect">
            <a:avLst/>
          </a:prstGeom>
          <a:noFill/>
          <a:ln/>
        </p:spPr>
        <p:txBody>
          <a:bodyPr wrap="square" lIns="0" tIns="0" rIns="0" bIns="0" rtlCol="0" anchor="t"/>
          <a:lstStyle/>
          <a:p>
            <a:pPr indent="0" marL="0">
              <a:buNone/>
            </a:pPr>
            <a:r>
              <a:rPr lang="en-US" sz="1800" dirty="0">
                <a:solidFill>
                  <a:schemeClr val="bg1"/>
                </a:solidFill>
              </a:rPr>
              <a:t>GitHub Actions, GHCR, SHA-tagged images</a:t>
            </a:r>
            <a:endParaRPr lang="en-US" sz="1800" dirty="0"/>
          </a:p>
        </p:txBody>
      </p:sp>
      <p:sp>
        <p:nvSpPr>
          <p:cNvPr id="19" name="Tile Infrastructure"/>
          <p:cNvSpPr/>
          <p:nvPr/>
        </p:nvSpPr>
        <p:spPr>
          <a:xfrm>
            <a:off x="3355848" y="3931920"/>
            <a:ext cx="2651760" cy="2148840"/>
          </a:xfrm>
          <a:prstGeom prst="roundRect">
            <a:avLst>
              <a:gd name="adj" fmla="val 4255"/>
            </a:avLst>
          </a:prstGeom>
          <a:solidFill>
            <a:schemeClr val="tx2"/>
          </a:solidFill>
          <a:ln w="12700">
            <a:solidFill>
              <a:schemeClr val="tx2"/>
            </a:solidFill>
            <a:prstDash val="solid"/>
          </a:ln>
        </p:spPr>
      </p:sp>
      <p:sp>
        <p:nvSpPr>
          <p:cNvPr id="20" name="Text 18"/>
          <p:cNvSpPr txBox="1"/>
          <p:nvPr/>
        </p:nvSpPr>
        <p:spPr>
          <a:xfrm>
            <a:off x="3630168" y="4187952"/>
            <a:ext cx="2103120" cy="320040"/>
          </a:xfrm>
          <a:prstGeom prst="rect">
            <a:avLst/>
          </a:prstGeom>
          <a:noFill/>
          <a:ln/>
        </p:spPr>
        <p:txBody>
          <a:bodyPr wrap="square" lIns="0" tIns="0" rIns="0" bIns="0" rtlCol="0" anchor="ctr"/>
          <a:lstStyle/>
          <a:p>
            <a:pPr indent="0" marL="0">
              <a:buNone/>
            </a:pPr>
            <a:r>
              <a:rPr lang="en-US" sz="1400" b="1" spc="200" kern="0" dirty="0">
                <a:solidFill>
                  <a:schemeClr val="accent5"/>
                </a:solidFill>
              </a:rPr>
              <a:t>INFRASTRUCTURE</a:t>
            </a:r>
            <a:endParaRPr lang="en-US" sz="1400" dirty="0"/>
          </a:p>
        </p:txBody>
      </p:sp>
      <p:sp>
        <p:nvSpPr>
          <p:cNvPr id="21" name="Text 19"/>
          <p:cNvSpPr txBox="1"/>
          <p:nvPr/>
        </p:nvSpPr>
        <p:spPr>
          <a:xfrm>
            <a:off x="3630168" y="4663440"/>
            <a:ext cx="2103120" cy="1234440"/>
          </a:xfrm>
          <a:prstGeom prst="rect">
            <a:avLst/>
          </a:prstGeom>
          <a:noFill/>
          <a:ln/>
        </p:spPr>
        <p:txBody>
          <a:bodyPr wrap="square" lIns="0" tIns="0" rIns="0" bIns="0" rtlCol="0" anchor="t"/>
          <a:lstStyle/>
          <a:p>
            <a:pPr indent="0" marL="0">
              <a:buNone/>
            </a:pPr>
            <a:r>
              <a:rPr lang="en-US" sz="1800" dirty="0">
                <a:solidFill>
                  <a:schemeClr val="bg1"/>
                </a:solidFill>
              </a:rPr>
              <a:t>Terraform: VPC, EKS, KMS, IAM, Pod Identity</a:t>
            </a:r>
            <a:endParaRPr lang="en-US" sz="1800" dirty="0"/>
          </a:p>
        </p:txBody>
      </p:sp>
      <p:sp>
        <p:nvSpPr>
          <p:cNvPr id="22" name="Tile Kubernetes"/>
          <p:cNvSpPr/>
          <p:nvPr/>
        </p:nvSpPr>
        <p:spPr>
          <a:xfrm>
            <a:off x="6163056" y="3931920"/>
            <a:ext cx="2651760" cy="2148840"/>
          </a:xfrm>
          <a:prstGeom prst="roundRect">
            <a:avLst>
              <a:gd name="adj" fmla="val 4255"/>
            </a:avLst>
          </a:prstGeom>
          <a:solidFill>
            <a:schemeClr val="tx2"/>
          </a:solidFill>
          <a:ln w="12700">
            <a:solidFill>
              <a:schemeClr val="tx2"/>
            </a:solidFill>
            <a:prstDash val="solid"/>
          </a:ln>
        </p:spPr>
      </p:sp>
      <p:sp>
        <p:nvSpPr>
          <p:cNvPr id="23" name="Text 21"/>
          <p:cNvSpPr txBox="1"/>
          <p:nvPr/>
        </p:nvSpPr>
        <p:spPr>
          <a:xfrm>
            <a:off x="6437376" y="4187952"/>
            <a:ext cx="2103120" cy="320040"/>
          </a:xfrm>
          <a:prstGeom prst="rect">
            <a:avLst/>
          </a:prstGeom>
          <a:noFill/>
          <a:ln/>
        </p:spPr>
        <p:txBody>
          <a:bodyPr wrap="square" lIns="0" tIns="0" rIns="0" bIns="0" rtlCol="0" anchor="ctr"/>
          <a:lstStyle/>
          <a:p>
            <a:pPr indent="0" marL="0">
              <a:buNone/>
            </a:pPr>
            <a:r>
              <a:rPr lang="en-US" sz="1400" b="1" spc="200" kern="0" dirty="0">
                <a:solidFill>
                  <a:schemeClr val="accent3"/>
                </a:solidFill>
              </a:rPr>
              <a:t>KUBERNETES</a:t>
            </a:r>
            <a:endParaRPr lang="en-US" sz="1400" dirty="0"/>
          </a:p>
        </p:txBody>
      </p:sp>
      <p:sp>
        <p:nvSpPr>
          <p:cNvPr id="24" name="Text 22"/>
          <p:cNvSpPr txBox="1"/>
          <p:nvPr/>
        </p:nvSpPr>
        <p:spPr>
          <a:xfrm>
            <a:off x="6437376" y="4663440"/>
            <a:ext cx="2103120" cy="1234440"/>
          </a:xfrm>
          <a:prstGeom prst="rect">
            <a:avLst/>
          </a:prstGeom>
          <a:noFill/>
          <a:ln/>
        </p:spPr>
        <p:txBody>
          <a:bodyPr wrap="square" lIns="0" tIns="0" rIns="0" bIns="0" rtlCol="0" anchor="t"/>
          <a:lstStyle/>
          <a:p>
            <a:pPr indent="0" marL="0">
              <a:buNone/>
            </a:pPr>
            <a:r>
              <a:rPr lang="en-US" sz="1800" dirty="0">
                <a:solidFill>
                  <a:schemeClr val="bg1"/>
                </a:solidFill>
              </a:rPr>
              <a:t>Helm, Traefik, HPA, Pod Security (restricted)</a:t>
            </a:r>
            <a:endParaRPr lang="en-US" sz="1800" dirty="0"/>
          </a:p>
        </p:txBody>
      </p:sp>
      <p:sp>
        <p:nvSpPr>
          <p:cNvPr id="25" name="Tile Operations"/>
          <p:cNvSpPr/>
          <p:nvPr/>
        </p:nvSpPr>
        <p:spPr>
          <a:xfrm>
            <a:off x="8970264" y="3931920"/>
            <a:ext cx="2651760" cy="2148840"/>
          </a:xfrm>
          <a:prstGeom prst="roundRect">
            <a:avLst>
              <a:gd name="adj" fmla="val 4255"/>
            </a:avLst>
          </a:prstGeom>
          <a:solidFill>
            <a:schemeClr val="tx2"/>
          </a:solidFill>
          <a:ln w="12700">
            <a:solidFill>
              <a:schemeClr val="tx2"/>
            </a:solidFill>
            <a:prstDash val="solid"/>
          </a:ln>
        </p:spPr>
      </p:sp>
      <p:sp>
        <p:nvSpPr>
          <p:cNvPr id="26" name="Text 24"/>
          <p:cNvSpPr txBox="1"/>
          <p:nvPr/>
        </p:nvSpPr>
        <p:spPr>
          <a:xfrm>
            <a:off x="9244584" y="4187952"/>
            <a:ext cx="2103120" cy="320040"/>
          </a:xfrm>
          <a:prstGeom prst="rect">
            <a:avLst/>
          </a:prstGeom>
          <a:noFill/>
          <a:ln/>
        </p:spPr>
        <p:txBody>
          <a:bodyPr wrap="square" lIns="0" tIns="0" rIns="0" bIns="0" rtlCol="0" anchor="ctr"/>
          <a:lstStyle/>
          <a:p>
            <a:pPr indent="0" marL="0">
              <a:buNone/>
            </a:pPr>
            <a:r>
              <a:rPr lang="en-US" sz="1400" b="1" spc="200" kern="0" dirty="0">
                <a:solidFill>
                  <a:schemeClr val="accent2"/>
                </a:solidFill>
              </a:rPr>
              <a:t>OPERATIONS</a:t>
            </a:r>
            <a:endParaRPr lang="en-US" sz="1400" dirty="0"/>
          </a:p>
        </p:txBody>
      </p:sp>
      <p:sp>
        <p:nvSpPr>
          <p:cNvPr id="27" name="Text 25"/>
          <p:cNvSpPr txBox="1"/>
          <p:nvPr/>
        </p:nvSpPr>
        <p:spPr>
          <a:xfrm>
            <a:off x="9244584" y="4663440"/>
            <a:ext cx="2103120" cy="1234440"/>
          </a:xfrm>
          <a:prstGeom prst="rect">
            <a:avLst/>
          </a:prstGeom>
          <a:noFill/>
          <a:ln/>
        </p:spPr>
        <p:txBody>
          <a:bodyPr wrap="square" lIns="0" tIns="0" rIns="0" bIns="0" rtlCol="0" anchor="t"/>
          <a:lstStyle/>
          <a:p>
            <a:pPr indent="0" marL="0">
              <a:buNone/>
            </a:pPr>
            <a:r>
              <a:rPr lang="en-US" sz="1800" dirty="0">
                <a:solidFill>
                  <a:schemeClr val="bg1"/>
                </a:solidFill>
              </a:rPr>
              <a:t>ArgoCD, Prometheus, Grafana</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TESTING</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65 tests pass, 99% coverage</a:t>
            </a:r>
            <a:endParaRPr lang="en-US" sz="3600" dirty="0"/>
          </a:p>
        </p:txBody>
      </p:sp>
      <p:sp>
        <p:nvSpPr>
          <p:cNvPr id="4" name="Frame pytest.png"/>
          <p:cNvSpPr/>
          <p:nvPr/>
        </p:nvSpPr>
        <p:spPr>
          <a:xfrm>
            <a:off x="502920" y="1647265"/>
            <a:ext cx="11183112" cy="4066390"/>
          </a:xfrm>
          <a:prstGeom prst="rect">
            <a:avLst/>
          </a:prstGeom>
          <a:solidFill>
            <a:schemeClr val="tx2"/>
          </a:solidFill>
          <a:ln w="12700">
            <a:solidFill>
              <a:schemeClr val="accent4"/>
            </a:solidFill>
            <a:prstDash val="solid"/>
          </a:ln>
        </p:spPr>
      </p:sp>
      <p:pic>
        <p:nvPicPr>
          <p:cNvPr id="5" name="pytest.png" descr="pytest.png">    </p:cNvPr>
          <p:cNvPicPr>
            <a:picLocks noChangeAspect="1"/>
          </p:cNvPicPr>
          <p:nvPr/>
        </p:nvPicPr>
        <p:blipFill>
          <a:blip r:embed="rId1"/>
          <a:stretch>
            <a:fillRect/>
          </a:stretch>
        </p:blipFill>
        <p:spPr>
          <a:xfrm>
            <a:off x="548640" y="1692985"/>
            <a:ext cx="11091672" cy="397495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65 passed</a:t>
            </a:r>
            <a:pPr indent="0" marL="0">
              <a:buNone/>
            </a:pPr>
            <a:r>
              <a:rPr lang="en-US" sz="1800" dirty="0">
                <a:solidFill>
                  <a:schemeClr val="accent6"/>
                </a:solidFill>
              </a:rPr>
              <a:t>, 99.47% coverage against a </a:t>
            </a:r>
            <a:pPr indent="0" marL="0">
              <a:buNone/>
            </a:pPr>
            <a:r>
              <a:rPr lang="en-US" sz="1800" b="1" dirty="0">
                <a:solidFill>
                  <a:schemeClr val="accent3"/>
                </a:solidFill>
              </a:rPr>
              <a:t>90%</a:t>
            </a:r>
            <a:pPr indent="0" marL="0">
              <a:buNone/>
            </a:pPr>
            <a:r>
              <a:rPr lang="en-US" sz="1800" dirty="0">
                <a:solidFill>
                  <a:schemeClr val="accent6"/>
                </a:solidFill>
              </a:rPr>
              <a:t> gate, on a separate test database.</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DOCKER</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One command starts the whole stack</a:t>
            </a:r>
            <a:endParaRPr lang="en-US" sz="3600" dirty="0"/>
          </a:p>
        </p:txBody>
      </p:sp>
      <p:sp>
        <p:nvSpPr>
          <p:cNvPr id="4" name="Frame compose-up.png"/>
          <p:cNvSpPr/>
          <p:nvPr/>
        </p:nvSpPr>
        <p:spPr>
          <a:xfrm>
            <a:off x="502920" y="1540747"/>
            <a:ext cx="11183112" cy="1399065"/>
          </a:xfrm>
          <a:prstGeom prst="rect">
            <a:avLst/>
          </a:prstGeom>
          <a:solidFill>
            <a:schemeClr val="tx2"/>
          </a:solidFill>
          <a:ln w="12700">
            <a:solidFill>
              <a:schemeClr val="accent4"/>
            </a:solidFill>
            <a:prstDash val="solid"/>
          </a:ln>
        </p:spPr>
      </p:sp>
      <p:pic>
        <p:nvPicPr>
          <p:cNvPr id="5" name="compose-up.png" descr="compose-up.png">    </p:cNvPr>
          <p:cNvPicPr>
            <a:picLocks noChangeAspect="1"/>
          </p:cNvPicPr>
          <p:nvPr/>
        </p:nvPicPr>
        <p:blipFill>
          <a:blip r:embed="rId1"/>
          <a:stretch>
            <a:fillRect/>
          </a:stretch>
        </p:blipFill>
        <p:spPr>
          <a:xfrm>
            <a:off x="548640" y="1586467"/>
            <a:ext cx="11091672" cy="1307625"/>
          </a:xfrm>
          <a:prstGeom prst="rect">
            <a:avLst/>
          </a:prstGeom>
        </p:spPr>
      </p:pic>
      <p:sp>
        <p:nvSpPr>
          <p:cNvPr id="6" name="Frame localhost-app.png"/>
          <p:cNvSpPr/>
          <p:nvPr/>
        </p:nvSpPr>
        <p:spPr>
          <a:xfrm>
            <a:off x="3636502" y="3063240"/>
            <a:ext cx="4915949" cy="2834640"/>
          </a:xfrm>
          <a:prstGeom prst="rect">
            <a:avLst/>
          </a:prstGeom>
          <a:solidFill>
            <a:schemeClr val="tx2"/>
          </a:solidFill>
          <a:ln w="12700">
            <a:solidFill>
              <a:schemeClr val="accent4"/>
            </a:solidFill>
            <a:prstDash val="solid"/>
          </a:ln>
        </p:spPr>
      </p:sp>
      <p:pic>
        <p:nvPicPr>
          <p:cNvPr id="7" name="localhost-app.png" descr="localhost-app.png">    </p:cNvPr>
          <p:cNvPicPr>
            <a:picLocks noChangeAspect="1"/>
          </p:cNvPicPr>
          <p:nvPr/>
        </p:nvPicPr>
        <p:blipFill>
          <a:blip r:embed="rId2"/>
          <a:stretch>
            <a:fillRect/>
          </a:stretch>
        </p:blipFill>
        <p:spPr>
          <a:xfrm>
            <a:off x="3682222" y="3108960"/>
            <a:ext cx="4824509" cy="2743200"/>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docker compose up --build</a:t>
            </a:r>
            <a:pPr indent="0" marL="0">
              <a:buNone/>
            </a:pPr>
            <a:r>
              <a:rPr lang="en-US" sz="1800" dirty="0">
                <a:solidFill>
                  <a:schemeClr val="accent6"/>
                </a:solidFill>
              </a:rPr>
              <a:t>: frontend, backend and Postgres, all healthy.</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GIT</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48 commits on a public repo</a:t>
            </a:r>
            <a:endParaRPr lang="en-US" sz="3600" dirty="0"/>
          </a:p>
        </p:txBody>
      </p:sp>
      <p:sp>
        <p:nvSpPr>
          <p:cNvPr id="4" name="Frame commits.png"/>
          <p:cNvSpPr/>
          <p:nvPr/>
        </p:nvSpPr>
        <p:spPr>
          <a:xfrm>
            <a:off x="2183251" y="1463040"/>
            <a:ext cx="7822450" cy="4434840"/>
          </a:xfrm>
          <a:prstGeom prst="rect">
            <a:avLst/>
          </a:prstGeom>
          <a:solidFill>
            <a:schemeClr val="tx2"/>
          </a:solidFill>
          <a:ln w="12700">
            <a:solidFill>
              <a:schemeClr val="accent4"/>
            </a:solidFill>
            <a:prstDash val="solid"/>
          </a:ln>
        </p:spPr>
      </p:sp>
      <p:pic>
        <p:nvPicPr>
          <p:cNvPr id="5" name="commits.png" descr="commits.png">    </p:cNvPr>
          <p:cNvPicPr>
            <a:picLocks noChangeAspect="1"/>
          </p:cNvPicPr>
          <p:nvPr/>
        </p:nvPicPr>
        <p:blipFill>
          <a:blip r:embed="rId1"/>
          <a:stretch>
            <a:fillRect/>
          </a:stretch>
        </p:blipFill>
        <p:spPr>
          <a:xfrm>
            <a:off x="2228971" y="1508760"/>
            <a:ext cx="7731010"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Specific commit messages</a:t>
            </a:r>
            <a:pPr indent="0" marL="0">
              <a:buNone/>
            </a:pPr>
            <a:r>
              <a:rPr lang="en-US" sz="1800" dirty="0">
                <a:solidFill>
                  <a:schemeClr val="accent6"/>
                </a:solidFill>
              </a:rPr>
              <a:t> on the main branch, with a green check on each pipeline run.</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CI/CD</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Every push is tested, scanned and published</a:t>
            </a:r>
            <a:endParaRPr lang="en-US" sz="3600" dirty="0"/>
          </a:p>
        </p:txBody>
      </p:sp>
      <p:sp>
        <p:nvSpPr>
          <p:cNvPr id="4" name="Step Secret scan"/>
          <p:cNvSpPr/>
          <p:nvPr/>
        </p:nvSpPr>
        <p:spPr>
          <a:xfrm>
            <a:off x="548640" y="1508760"/>
            <a:ext cx="1783080" cy="685800"/>
          </a:xfrm>
          <a:prstGeom prst="homePlate">
            <a:avLst/>
          </a:prstGeom>
          <a:solidFill>
            <a:schemeClr val="accent4"/>
          </a:solidFill>
          <a:ln w="12700">
            <a:solidFill>
              <a:schemeClr val="tx1"/>
            </a:solidFill>
            <a:prstDash val="solid"/>
          </a:ln>
        </p:spPr>
      </p:sp>
      <p:sp>
        <p:nvSpPr>
          <p:cNvPr id="5" name="Text 3"/>
          <p:cNvSpPr txBox="1"/>
          <p:nvPr/>
        </p:nvSpPr>
        <p:spPr>
          <a:xfrm>
            <a:off x="59436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Secret scan</a:t>
            </a:r>
            <a:endParaRPr lang="en-US" sz="1400" dirty="0"/>
          </a:p>
        </p:txBody>
      </p:sp>
      <p:sp>
        <p:nvSpPr>
          <p:cNvPr id="6" name="Step Lint + tests"/>
          <p:cNvSpPr/>
          <p:nvPr/>
        </p:nvSpPr>
        <p:spPr>
          <a:xfrm>
            <a:off x="2423160" y="1508760"/>
            <a:ext cx="1783080" cy="685800"/>
          </a:xfrm>
          <a:prstGeom prst="homePlate">
            <a:avLst/>
          </a:prstGeom>
          <a:solidFill>
            <a:schemeClr val="accent4"/>
          </a:solidFill>
          <a:ln w="12700">
            <a:solidFill>
              <a:schemeClr val="tx1"/>
            </a:solidFill>
            <a:prstDash val="solid"/>
          </a:ln>
        </p:spPr>
      </p:sp>
      <p:sp>
        <p:nvSpPr>
          <p:cNvPr id="7" name="Text 5"/>
          <p:cNvSpPr txBox="1"/>
          <p:nvPr/>
        </p:nvSpPr>
        <p:spPr>
          <a:xfrm>
            <a:off x="246888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Lint + tests</a:t>
            </a:r>
            <a:endParaRPr lang="en-US" sz="1400" dirty="0"/>
          </a:p>
        </p:txBody>
      </p:sp>
      <p:sp>
        <p:nvSpPr>
          <p:cNvPr id="8" name="Step Terraform + Helm"/>
          <p:cNvSpPr/>
          <p:nvPr/>
        </p:nvSpPr>
        <p:spPr>
          <a:xfrm>
            <a:off x="4297680" y="1508760"/>
            <a:ext cx="1783080" cy="685800"/>
          </a:xfrm>
          <a:prstGeom prst="homePlate">
            <a:avLst/>
          </a:prstGeom>
          <a:solidFill>
            <a:schemeClr val="accent4"/>
          </a:solidFill>
          <a:ln w="12700">
            <a:solidFill>
              <a:schemeClr val="tx1"/>
            </a:solidFill>
            <a:prstDash val="solid"/>
          </a:ln>
        </p:spPr>
      </p:sp>
      <p:sp>
        <p:nvSpPr>
          <p:cNvPr id="9" name="Text 7"/>
          <p:cNvSpPr txBox="1"/>
          <p:nvPr/>
        </p:nvSpPr>
        <p:spPr>
          <a:xfrm>
            <a:off x="434340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Terraform + Helm</a:t>
            </a:r>
            <a:endParaRPr lang="en-US" sz="1400" dirty="0"/>
          </a:p>
        </p:txBody>
      </p:sp>
      <p:sp>
        <p:nvSpPr>
          <p:cNvPr id="10" name="Step Docker build"/>
          <p:cNvSpPr/>
          <p:nvPr/>
        </p:nvSpPr>
        <p:spPr>
          <a:xfrm>
            <a:off x="6172200" y="1508760"/>
            <a:ext cx="1783080" cy="685800"/>
          </a:xfrm>
          <a:prstGeom prst="homePlate">
            <a:avLst/>
          </a:prstGeom>
          <a:solidFill>
            <a:schemeClr val="accent4"/>
          </a:solidFill>
          <a:ln w="12700">
            <a:solidFill>
              <a:schemeClr val="tx1"/>
            </a:solidFill>
            <a:prstDash val="solid"/>
          </a:ln>
        </p:spPr>
      </p:sp>
      <p:sp>
        <p:nvSpPr>
          <p:cNvPr id="11" name="Text 9"/>
          <p:cNvSpPr txBox="1"/>
          <p:nvPr/>
        </p:nvSpPr>
        <p:spPr>
          <a:xfrm>
            <a:off x="621792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Docker build</a:t>
            </a:r>
            <a:endParaRPr lang="en-US" sz="1400" dirty="0"/>
          </a:p>
        </p:txBody>
      </p:sp>
      <p:sp>
        <p:nvSpPr>
          <p:cNvPr id="12" name="Step Trivy gate"/>
          <p:cNvSpPr/>
          <p:nvPr/>
        </p:nvSpPr>
        <p:spPr>
          <a:xfrm>
            <a:off x="8046720" y="1508760"/>
            <a:ext cx="1783080" cy="685800"/>
          </a:xfrm>
          <a:prstGeom prst="homePlate">
            <a:avLst/>
          </a:prstGeom>
          <a:solidFill>
            <a:schemeClr val="accent1"/>
          </a:solidFill>
          <a:ln w="12700">
            <a:solidFill>
              <a:schemeClr val="tx1"/>
            </a:solidFill>
            <a:prstDash val="solid"/>
          </a:ln>
        </p:spPr>
      </p:sp>
      <p:sp>
        <p:nvSpPr>
          <p:cNvPr id="13" name="Text 11"/>
          <p:cNvSpPr txBox="1"/>
          <p:nvPr/>
        </p:nvSpPr>
        <p:spPr>
          <a:xfrm>
            <a:off x="809244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Trivy gate</a:t>
            </a:r>
            <a:endParaRPr lang="en-US" sz="1400" dirty="0"/>
          </a:p>
        </p:txBody>
      </p:sp>
      <p:sp>
        <p:nvSpPr>
          <p:cNvPr id="14" name="Step Push to GHCR"/>
          <p:cNvSpPr/>
          <p:nvPr/>
        </p:nvSpPr>
        <p:spPr>
          <a:xfrm>
            <a:off x="9921240" y="1508760"/>
            <a:ext cx="1783080" cy="685800"/>
          </a:xfrm>
          <a:prstGeom prst="homePlate">
            <a:avLst/>
          </a:prstGeom>
          <a:solidFill>
            <a:schemeClr val="accent4"/>
          </a:solidFill>
          <a:ln w="12700">
            <a:solidFill>
              <a:schemeClr val="tx1"/>
            </a:solidFill>
            <a:prstDash val="solid"/>
          </a:ln>
        </p:spPr>
      </p:sp>
      <p:sp>
        <p:nvSpPr>
          <p:cNvPr id="15" name="Text 13"/>
          <p:cNvSpPr txBox="1"/>
          <p:nvPr/>
        </p:nvSpPr>
        <p:spPr>
          <a:xfrm>
            <a:off x="9966960" y="1508760"/>
            <a:ext cx="1417320" cy="685800"/>
          </a:xfrm>
          <a:prstGeom prst="rect">
            <a:avLst/>
          </a:prstGeom>
          <a:noFill/>
          <a:ln/>
        </p:spPr>
        <p:txBody>
          <a:bodyPr wrap="square" lIns="0" tIns="0" rIns="0" bIns="0" rtlCol="0" anchor="ctr"/>
          <a:lstStyle/>
          <a:p>
            <a:pPr algn="ctr" indent="0" marL="0">
              <a:buNone/>
            </a:pPr>
            <a:r>
              <a:rPr lang="en-US" sz="1400" b="1" dirty="0">
                <a:solidFill>
                  <a:schemeClr val="bg1"/>
                </a:solidFill>
              </a:rPr>
              <a:t>Push to GHCR</a:t>
            </a:r>
            <a:endParaRPr lang="en-US" sz="1400" dirty="0"/>
          </a:p>
        </p:txBody>
      </p:sp>
      <p:sp>
        <p:nvSpPr>
          <p:cNvPr id="16" name="Frame green-run.png"/>
          <p:cNvSpPr/>
          <p:nvPr/>
        </p:nvSpPr>
        <p:spPr>
          <a:xfrm>
            <a:off x="903807" y="2331720"/>
            <a:ext cx="10381337" cy="3566160"/>
          </a:xfrm>
          <a:prstGeom prst="rect">
            <a:avLst/>
          </a:prstGeom>
          <a:solidFill>
            <a:schemeClr val="tx2"/>
          </a:solidFill>
          <a:ln w="12700">
            <a:solidFill>
              <a:schemeClr val="accent4"/>
            </a:solidFill>
            <a:prstDash val="solid"/>
          </a:ln>
        </p:spPr>
      </p:sp>
      <p:pic>
        <p:nvPicPr>
          <p:cNvPr id="17" name="green-run.png" descr="Green pipeline run in GitHub Actions">    </p:cNvPr>
          <p:cNvPicPr>
            <a:picLocks noChangeAspect="1"/>
          </p:cNvPicPr>
          <p:nvPr/>
        </p:nvPicPr>
        <p:blipFill>
          <a:blip r:embed="rId1"/>
          <a:stretch>
            <a:fillRect/>
          </a:stretch>
        </p:blipFill>
        <p:spPr>
          <a:xfrm>
            <a:off x="949527" y="2377440"/>
            <a:ext cx="10289897" cy="3474720"/>
          </a:xfrm>
          <a:prstGeom prst="rect">
            <a:avLst/>
          </a:prstGeom>
        </p:spPr>
      </p:pic>
      <p:sp>
        <p:nvSpPr>
          <p:cNvPr id="18" name="Text 15"/>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65</a:t>
            </a:r>
            <a:pPr indent="0" marL="0">
              <a:buNone/>
            </a:pPr>
            <a:r>
              <a:rPr lang="en-US" sz="1800" dirty="0">
                <a:solidFill>
                  <a:schemeClr val="accent6"/>
                </a:solidFill>
              </a:rPr>
              <a:t> backend tests, </a:t>
            </a:r>
            <a:pPr indent="0" marL="0">
              <a:buNone/>
            </a:pPr>
            <a:r>
              <a:rPr lang="en-US" sz="1800" b="1" dirty="0">
                <a:solidFill>
                  <a:schemeClr val="accent3"/>
                </a:solidFill>
              </a:rPr>
              <a:t>90%</a:t>
            </a:r>
            <a:pPr indent="0" marL="0">
              <a:buNone/>
            </a:pPr>
            <a:r>
              <a:rPr lang="en-US" sz="1800" dirty="0">
                <a:solidFill>
                  <a:schemeClr val="accent6"/>
                </a:solidFill>
              </a:rPr>
              <a:t> coverage gate, </a:t>
            </a:r>
            <a:pPr indent="0" marL="0">
              <a:buNone/>
            </a:pPr>
            <a:r>
              <a:rPr lang="en-US" sz="1800" b="1" dirty="0">
                <a:solidFill>
                  <a:schemeClr val="accent3"/>
                </a:solidFill>
              </a:rPr>
              <a:t>7</a:t>
            </a:r>
            <a:pPr indent="0" marL="0">
              <a:buNone/>
            </a:pPr>
            <a:r>
              <a:rPr lang="en-US" sz="1800" dirty="0">
                <a:solidFill>
                  <a:schemeClr val="accent6"/>
                </a:solidFill>
              </a:rPr>
              <a:t> jobs, images tagged by commit SHA</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CI/CD</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The run summary</a:t>
            </a:r>
            <a:endParaRPr lang="en-US" sz="3600" dirty="0"/>
          </a:p>
        </p:txBody>
      </p:sp>
      <p:sp>
        <p:nvSpPr>
          <p:cNvPr id="4" name="Frame pipeline-summary.png"/>
          <p:cNvSpPr/>
          <p:nvPr/>
        </p:nvSpPr>
        <p:spPr>
          <a:xfrm>
            <a:off x="2733713" y="1463040"/>
            <a:ext cx="6721525" cy="4434840"/>
          </a:xfrm>
          <a:prstGeom prst="rect">
            <a:avLst/>
          </a:prstGeom>
          <a:solidFill>
            <a:schemeClr val="tx2"/>
          </a:solidFill>
          <a:ln w="12700">
            <a:solidFill>
              <a:schemeClr val="accent4"/>
            </a:solidFill>
            <a:prstDash val="solid"/>
          </a:ln>
        </p:spPr>
      </p:sp>
      <p:pic>
        <p:nvPicPr>
          <p:cNvPr id="5" name="pipeline-summary.png" descr="pipeline-summary.png">    </p:cNvPr>
          <p:cNvPicPr>
            <a:picLocks noChangeAspect="1"/>
          </p:cNvPicPr>
          <p:nvPr/>
        </p:nvPicPr>
        <p:blipFill>
          <a:blip r:embed="rId1"/>
          <a:stretch>
            <a:fillRect/>
          </a:stretch>
        </p:blipFill>
        <p:spPr>
          <a:xfrm>
            <a:off x="2779433" y="1508760"/>
            <a:ext cx="6630085"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dirty="0">
                <a:solidFill>
                  <a:schemeClr val="accent6"/>
                </a:solidFill>
              </a:rPr>
              <a:t>Backend and frontend jobs </a:t>
            </a:r>
            <a:pPr indent="0" marL="0">
              <a:buNone/>
            </a:pPr>
            <a:r>
              <a:rPr lang="en-US" sz="1800" b="1" dirty="0">
                <a:solidFill>
                  <a:schemeClr val="accent3"/>
                </a:solidFill>
              </a:rPr>
              <a:t>in parallel</a:t>
            </a:r>
            <a:pPr indent="0" marL="0">
              <a:buNone/>
            </a:pPr>
            <a:r>
              <a:rPr lang="en-US" sz="1800" dirty="0">
                <a:solidFill>
                  <a:schemeClr val="accent6"/>
                </a:solidFill>
              </a:rPr>
              <a:t>, then one image job per component.</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CI/CD</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Images in the GitHub Container Registry</a:t>
            </a:r>
            <a:endParaRPr lang="en-US" sz="3600" dirty="0"/>
          </a:p>
        </p:txBody>
      </p:sp>
      <p:sp>
        <p:nvSpPr>
          <p:cNvPr id="4" name="Frame ghcr-backend.png"/>
          <p:cNvSpPr/>
          <p:nvPr/>
        </p:nvSpPr>
        <p:spPr>
          <a:xfrm>
            <a:off x="502920" y="2171688"/>
            <a:ext cx="5532120" cy="3017544"/>
          </a:xfrm>
          <a:prstGeom prst="rect">
            <a:avLst/>
          </a:prstGeom>
          <a:solidFill>
            <a:schemeClr val="tx2"/>
          </a:solidFill>
          <a:ln w="12700">
            <a:solidFill>
              <a:schemeClr val="accent4"/>
            </a:solidFill>
            <a:prstDash val="solid"/>
          </a:ln>
        </p:spPr>
      </p:sp>
      <p:pic>
        <p:nvPicPr>
          <p:cNvPr id="5" name="ghcr-backend.png" descr="ghcr-backend.png">    </p:cNvPr>
          <p:cNvPicPr>
            <a:picLocks noChangeAspect="1"/>
          </p:cNvPicPr>
          <p:nvPr/>
        </p:nvPicPr>
        <p:blipFill>
          <a:blip r:embed="rId1"/>
          <a:stretch>
            <a:fillRect/>
          </a:stretch>
        </p:blipFill>
        <p:spPr>
          <a:xfrm>
            <a:off x="548640" y="2217408"/>
            <a:ext cx="5440680" cy="2926104"/>
          </a:xfrm>
          <a:prstGeom prst="rect">
            <a:avLst/>
          </a:prstGeom>
        </p:spPr>
      </p:pic>
      <p:sp>
        <p:nvSpPr>
          <p:cNvPr id="6" name="Frame ghcr-frontend.png"/>
          <p:cNvSpPr/>
          <p:nvPr/>
        </p:nvSpPr>
        <p:spPr>
          <a:xfrm>
            <a:off x="6153912" y="2194393"/>
            <a:ext cx="5532120" cy="2972134"/>
          </a:xfrm>
          <a:prstGeom prst="rect">
            <a:avLst/>
          </a:prstGeom>
          <a:solidFill>
            <a:schemeClr val="tx2"/>
          </a:solidFill>
          <a:ln w="12700">
            <a:solidFill>
              <a:schemeClr val="accent4"/>
            </a:solidFill>
            <a:prstDash val="solid"/>
          </a:ln>
        </p:spPr>
      </p:sp>
      <p:pic>
        <p:nvPicPr>
          <p:cNvPr id="7" name="ghcr-frontend.png" descr="ghcr-frontend.png">    </p:cNvPr>
          <p:cNvPicPr>
            <a:picLocks noChangeAspect="1"/>
          </p:cNvPicPr>
          <p:nvPr/>
        </p:nvPicPr>
        <p:blipFill>
          <a:blip r:embed="rId2"/>
          <a:stretch>
            <a:fillRect/>
          </a:stretch>
        </p:blipFill>
        <p:spPr>
          <a:xfrm>
            <a:off x="6199632" y="2240113"/>
            <a:ext cx="5440680" cy="2880694"/>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Tagged with the commit SHA</a:t>
            </a:r>
            <a:pPr indent="0" marL="0">
              <a:buNone/>
            </a:pPr>
            <a:r>
              <a:rPr lang="en-US" sz="1800" dirty="0">
                <a:solidFill>
                  <a:schemeClr val="accent6"/>
                </a:solidFill>
              </a:rPr>
              <a:t>, never latest, so every deployment traces back to a commit.</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SECURITY</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Trivy on the backend image</a:t>
            </a:r>
            <a:endParaRPr lang="en-US" sz="3600" dirty="0"/>
          </a:p>
        </p:txBody>
      </p:sp>
      <p:sp>
        <p:nvSpPr>
          <p:cNvPr id="4" name="Frame trivy-be.png"/>
          <p:cNvSpPr/>
          <p:nvPr/>
        </p:nvSpPr>
        <p:spPr>
          <a:xfrm>
            <a:off x="1953924" y="1463040"/>
            <a:ext cx="8281104" cy="4434840"/>
          </a:xfrm>
          <a:prstGeom prst="rect">
            <a:avLst/>
          </a:prstGeom>
          <a:solidFill>
            <a:schemeClr val="tx2"/>
          </a:solidFill>
          <a:ln w="12700">
            <a:solidFill>
              <a:schemeClr val="accent4"/>
            </a:solidFill>
            <a:prstDash val="solid"/>
          </a:ln>
        </p:spPr>
      </p:sp>
      <p:pic>
        <p:nvPicPr>
          <p:cNvPr id="5" name="trivy-be.png" descr="trivy-be.png">    </p:cNvPr>
          <p:cNvPicPr>
            <a:picLocks noChangeAspect="1"/>
          </p:cNvPicPr>
          <p:nvPr/>
        </p:nvPicPr>
        <p:blipFill>
          <a:blip r:embed="rId1"/>
          <a:stretch>
            <a:fillRect/>
          </a:stretch>
        </p:blipFill>
        <p:spPr>
          <a:xfrm>
            <a:off x="1999644" y="1508760"/>
            <a:ext cx="8189664"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Fails the build on HIGH/CRITICAL</a:t>
            </a:r>
            <a:pPr indent="0" marL="0">
              <a:buNone/>
            </a:pPr>
            <a:r>
              <a:rPr lang="en-US" sz="1800" dirty="0">
                <a:solidFill>
                  <a:schemeClr val="accent6"/>
                </a:solidFill>
              </a:rPr>
              <a:t>. The first run found 3 HIGH CVEs in Starlette; upgrading fixed them.</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SECURITY</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Trivy on the frontend image</a:t>
            </a:r>
            <a:endParaRPr lang="en-US" sz="3600" dirty="0"/>
          </a:p>
        </p:txBody>
      </p:sp>
      <p:sp>
        <p:nvSpPr>
          <p:cNvPr id="4" name="Frame trivy-fe.png"/>
          <p:cNvSpPr/>
          <p:nvPr/>
        </p:nvSpPr>
        <p:spPr>
          <a:xfrm>
            <a:off x="1939431" y="1463040"/>
            <a:ext cx="8310089" cy="4434840"/>
          </a:xfrm>
          <a:prstGeom prst="rect">
            <a:avLst/>
          </a:prstGeom>
          <a:solidFill>
            <a:schemeClr val="tx2"/>
          </a:solidFill>
          <a:ln w="12700">
            <a:solidFill>
              <a:schemeClr val="accent4"/>
            </a:solidFill>
            <a:prstDash val="solid"/>
          </a:ln>
        </p:spPr>
      </p:sp>
      <p:pic>
        <p:nvPicPr>
          <p:cNvPr id="5" name="trivy-fe.png" descr="trivy-fe.png">    </p:cNvPr>
          <p:cNvPicPr>
            <a:picLocks noChangeAspect="1"/>
          </p:cNvPicPr>
          <p:nvPr/>
        </p:nvPicPr>
        <p:blipFill>
          <a:blip r:embed="rId1"/>
          <a:stretch>
            <a:fillRect/>
          </a:stretch>
        </p:blipFill>
        <p:spPr>
          <a:xfrm>
            <a:off x="1985151" y="1508760"/>
            <a:ext cx="8218649"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41 issues</a:t>
            </a:r>
            <a:pPr indent="0" marL="0">
              <a:buNone/>
            </a:pPr>
            <a:r>
              <a:rPr lang="en-US" sz="1800" dirty="0">
                <a:solidFill>
                  <a:schemeClr val="accent6"/>
                </a:solidFill>
              </a:rPr>
              <a:t> in the old nginx base image, </a:t>
            </a:r>
            <a:pPr indent="0" marL="0">
              <a:buNone/>
            </a:pPr>
            <a:r>
              <a:rPr lang="en-US" sz="1800" b="1" dirty="0">
                <a:solidFill>
                  <a:schemeClr val="accent3"/>
                </a:solidFill>
              </a:rPr>
              <a:t>zero</a:t>
            </a:r>
            <a:pPr indent="0" marL="0">
              <a:buNone/>
            </a:pPr>
            <a:r>
              <a:rPr lang="en-US" sz="1800" dirty="0">
                <a:solidFill>
                  <a:schemeClr val="accent6"/>
                </a:solidFill>
              </a:rPr>
              <a:t> after moving to nginx-unprivileged 1.30.</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INFRASTRUCTURE</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One terraform apply builds AWS</a:t>
            </a:r>
            <a:endParaRPr lang="en-US" sz="3600" dirty="0"/>
          </a:p>
        </p:txBody>
      </p:sp>
      <p:sp>
        <p:nvSpPr>
          <p:cNvPr id="4" name="Frame tf-apply.png"/>
          <p:cNvSpPr/>
          <p:nvPr/>
        </p:nvSpPr>
        <p:spPr>
          <a:xfrm>
            <a:off x="2218812" y="1463040"/>
            <a:ext cx="7751328" cy="4434840"/>
          </a:xfrm>
          <a:prstGeom prst="rect">
            <a:avLst/>
          </a:prstGeom>
          <a:solidFill>
            <a:schemeClr val="tx2"/>
          </a:solidFill>
          <a:ln w="12700">
            <a:solidFill>
              <a:schemeClr val="accent4"/>
            </a:solidFill>
            <a:prstDash val="solid"/>
          </a:ln>
        </p:spPr>
      </p:sp>
      <p:pic>
        <p:nvPicPr>
          <p:cNvPr id="5" name="tf-apply.png" descr="tf-apply.png">    </p:cNvPr>
          <p:cNvPicPr>
            <a:picLocks noChangeAspect="1"/>
          </p:cNvPicPr>
          <p:nvPr/>
        </p:nvPicPr>
        <p:blipFill>
          <a:blip r:embed="rId1"/>
          <a:stretch>
            <a:fillRect/>
          </a:stretch>
        </p:blipFill>
        <p:spPr>
          <a:xfrm>
            <a:off x="2264532" y="1508760"/>
            <a:ext cx="7659888"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59 resources</a:t>
            </a:r>
            <a:pPr indent="0" marL="0">
              <a:buNone/>
            </a:pPr>
            <a:r>
              <a:rPr lang="en-US" sz="1800" dirty="0">
                <a:solidFill>
                  <a:schemeClr val="accent6"/>
                </a:solidFill>
              </a:rPr>
              <a:t> created in about 15 minutes: network, cluster, nodes, add-ons.</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INFRASTRUCTURE</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VPC and subnets</a:t>
            </a:r>
            <a:endParaRPr lang="en-US" sz="3600" dirty="0"/>
          </a:p>
        </p:txBody>
      </p:sp>
      <p:sp>
        <p:nvSpPr>
          <p:cNvPr id="4" name="Frame aws-vpc.png"/>
          <p:cNvSpPr/>
          <p:nvPr/>
        </p:nvSpPr>
        <p:spPr>
          <a:xfrm>
            <a:off x="502920" y="2158917"/>
            <a:ext cx="5532120" cy="3043087"/>
          </a:xfrm>
          <a:prstGeom prst="rect">
            <a:avLst/>
          </a:prstGeom>
          <a:solidFill>
            <a:schemeClr val="tx2"/>
          </a:solidFill>
          <a:ln w="12700">
            <a:solidFill>
              <a:schemeClr val="accent4"/>
            </a:solidFill>
            <a:prstDash val="solid"/>
          </a:ln>
        </p:spPr>
      </p:sp>
      <p:pic>
        <p:nvPicPr>
          <p:cNvPr id="5" name="aws-vpc.png" descr="aws-vpc.png">    </p:cNvPr>
          <p:cNvPicPr>
            <a:picLocks noChangeAspect="1"/>
          </p:cNvPicPr>
          <p:nvPr/>
        </p:nvPicPr>
        <p:blipFill>
          <a:blip r:embed="rId1"/>
          <a:stretch>
            <a:fillRect/>
          </a:stretch>
        </p:blipFill>
        <p:spPr>
          <a:xfrm>
            <a:off x="548640" y="2204637"/>
            <a:ext cx="5440680" cy="2951647"/>
          </a:xfrm>
          <a:prstGeom prst="rect">
            <a:avLst/>
          </a:prstGeom>
        </p:spPr>
      </p:pic>
      <p:sp>
        <p:nvSpPr>
          <p:cNvPr id="6" name="Frame aws-subnet.png"/>
          <p:cNvSpPr/>
          <p:nvPr/>
        </p:nvSpPr>
        <p:spPr>
          <a:xfrm>
            <a:off x="6153912" y="2519472"/>
            <a:ext cx="5532120" cy="2321976"/>
          </a:xfrm>
          <a:prstGeom prst="rect">
            <a:avLst/>
          </a:prstGeom>
          <a:solidFill>
            <a:schemeClr val="tx2"/>
          </a:solidFill>
          <a:ln w="12700">
            <a:solidFill>
              <a:schemeClr val="accent4"/>
            </a:solidFill>
            <a:prstDash val="solid"/>
          </a:ln>
        </p:spPr>
      </p:sp>
      <p:pic>
        <p:nvPicPr>
          <p:cNvPr id="7" name="aws-subnet.png" descr="aws-subnet.png">    </p:cNvPr>
          <p:cNvPicPr>
            <a:picLocks noChangeAspect="1"/>
          </p:cNvPicPr>
          <p:nvPr/>
        </p:nvPicPr>
        <p:blipFill>
          <a:blip r:embed="rId2"/>
          <a:stretch>
            <a:fillRect/>
          </a:stretch>
        </p:blipFill>
        <p:spPr>
          <a:xfrm>
            <a:off x="6199632" y="2565192"/>
            <a:ext cx="5440680" cy="2230536"/>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Public subnets</a:t>
            </a:r>
            <a:pPr indent="0" marL="0">
              <a:buNone/>
            </a:pPr>
            <a:r>
              <a:rPr lang="en-US" sz="1800" dirty="0">
                <a:solidFill>
                  <a:schemeClr val="accent6"/>
                </a:solidFill>
              </a:rPr>
              <a:t> for the load balancer and NAT, </a:t>
            </a:r>
            <a:pPr indent="0" marL="0">
              <a:buNone/>
            </a:pPr>
            <a:r>
              <a:rPr lang="en-US" sz="1800" b="1" dirty="0">
                <a:solidFill>
                  <a:schemeClr val="accent3"/>
                </a:solidFill>
              </a:rPr>
              <a:t>private subnets</a:t>
            </a:r>
            <a:pPr indent="0" marL="0">
              <a:buNone/>
            </a:pPr>
            <a:r>
              <a:rPr lang="en-US" sz="1800" dirty="0">
                <a:solidFill>
                  <a:schemeClr val="accent6"/>
                </a:solidFill>
              </a:rPr>
              <a:t> for the nodes.</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INFRASTRUCTURE</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The EKS cluster</a:t>
            </a:r>
            <a:endParaRPr lang="en-US" sz="3600" dirty="0"/>
          </a:p>
        </p:txBody>
      </p:sp>
      <p:sp>
        <p:nvSpPr>
          <p:cNvPr id="4" name="Frame aws-eks-overview.png"/>
          <p:cNvSpPr/>
          <p:nvPr/>
        </p:nvSpPr>
        <p:spPr>
          <a:xfrm>
            <a:off x="1652611" y="1463040"/>
            <a:ext cx="8883729" cy="4434840"/>
          </a:xfrm>
          <a:prstGeom prst="rect">
            <a:avLst/>
          </a:prstGeom>
          <a:solidFill>
            <a:schemeClr val="tx2"/>
          </a:solidFill>
          <a:ln w="12700">
            <a:solidFill>
              <a:schemeClr val="accent4"/>
            </a:solidFill>
            <a:prstDash val="solid"/>
          </a:ln>
        </p:spPr>
      </p:sp>
      <p:pic>
        <p:nvPicPr>
          <p:cNvPr id="5" name="aws-eks-overview.png" descr="aws-eks-overview.png">    </p:cNvPr>
          <p:cNvPicPr>
            <a:picLocks noChangeAspect="1"/>
          </p:cNvPicPr>
          <p:nvPr/>
        </p:nvPicPr>
        <p:blipFill>
          <a:blip r:embed="rId1"/>
          <a:stretch>
            <a:fillRect/>
          </a:stretch>
        </p:blipFill>
        <p:spPr>
          <a:xfrm>
            <a:off x="1698331" y="1508760"/>
            <a:ext cx="8792289"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EKS 1.35</a:t>
            </a:r>
            <a:pPr indent="0" marL="0">
              <a:buNone/>
            </a:pPr>
            <a:r>
              <a:rPr lang="en-US" sz="1800" dirty="0">
                <a:solidFill>
                  <a:schemeClr val="accent6"/>
                </a:solidFill>
              </a:rPr>
              <a:t>, standard support, 0 health issues, 6 add-ons, KMS-encrypted secrets.</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INFRASTRUCTURE</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Two worker nodes</a:t>
            </a:r>
            <a:endParaRPr lang="en-US" sz="3600" dirty="0"/>
          </a:p>
        </p:txBody>
      </p:sp>
      <p:sp>
        <p:nvSpPr>
          <p:cNvPr id="4" name="Frame aws-eks-compute.png"/>
          <p:cNvSpPr/>
          <p:nvPr/>
        </p:nvSpPr>
        <p:spPr>
          <a:xfrm>
            <a:off x="2355529" y="1463040"/>
            <a:ext cx="7477894" cy="3154680"/>
          </a:xfrm>
          <a:prstGeom prst="rect">
            <a:avLst/>
          </a:prstGeom>
          <a:solidFill>
            <a:schemeClr val="tx2"/>
          </a:solidFill>
          <a:ln w="12700">
            <a:solidFill>
              <a:schemeClr val="accent4"/>
            </a:solidFill>
            <a:prstDash val="solid"/>
          </a:ln>
        </p:spPr>
      </p:sp>
      <p:pic>
        <p:nvPicPr>
          <p:cNvPr id="5" name="aws-eks-compute.png" descr="aws-eks-compute.png">    </p:cNvPr>
          <p:cNvPicPr>
            <a:picLocks noChangeAspect="1"/>
          </p:cNvPicPr>
          <p:nvPr/>
        </p:nvPicPr>
        <p:blipFill>
          <a:blip r:embed="rId1"/>
          <a:stretch>
            <a:fillRect/>
          </a:stretch>
        </p:blipFill>
        <p:spPr>
          <a:xfrm>
            <a:off x="2401249" y="1508760"/>
            <a:ext cx="7386454" cy="3063240"/>
          </a:xfrm>
          <a:prstGeom prst="rect">
            <a:avLst/>
          </a:prstGeom>
        </p:spPr>
      </p:pic>
      <p:sp>
        <p:nvSpPr>
          <p:cNvPr id="6" name="Frame getnodes.png"/>
          <p:cNvSpPr/>
          <p:nvPr/>
        </p:nvSpPr>
        <p:spPr>
          <a:xfrm>
            <a:off x="1991106" y="4663440"/>
            <a:ext cx="8206740" cy="1234440"/>
          </a:xfrm>
          <a:prstGeom prst="rect">
            <a:avLst/>
          </a:prstGeom>
          <a:solidFill>
            <a:schemeClr val="tx2"/>
          </a:solidFill>
          <a:ln w="12700">
            <a:solidFill>
              <a:schemeClr val="accent4"/>
            </a:solidFill>
            <a:prstDash val="solid"/>
          </a:ln>
        </p:spPr>
      </p:sp>
      <p:pic>
        <p:nvPicPr>
          <p:cNvPr id="7" name="getnodes.png" descr="getnodes.png">    </p:cNvPr>
          <p:cNvPicPr>
            <a:picLocks noChangeAspect="1"/>
          </p:cNvPicPr>
          <p:nvPr/>
        </p:nvPicPr>
        <p:blipFill>
          <a:blip r:embed="rId2"/>
          <a:stretch>
            <a:fillRect/>
          </a:stretch>
        </p:blipFill>
        <p:spPr>
          <a:xfrm>
            <a:off x="2036826" y="4709160"/>
            <a:ext cx="8115300" cy="1143000"/>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2 x m7i-flex.large</a:t>
            </a:r>
            <a:pPr indent="0" marL="0">
              <a:buNone/>
            </a:pPr>
            <a:r>
              <a:rPr lang="en-US" sz="1800" dirty="0">
                <a:solidFill>
                  <a:schemeClr val="accent6"/>
                </a:solidFill>
              </a:rPr>
              <a:t>, both Ready, running Kubernetes v1.35.</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KUBERNETES + HELM</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Everything running</a:t>
            </a:r>
            <a:endParaRPr lang="en-US" sz="3600" dirty="0"/>
          </a:p>
        </p:txBody>
      </p:sp>
      <p:sp>
        <p:nvSpPr>
          <p:cNvPr id="4" name="Frame kubectl-getpods.png"/>
          <p:cNvSpPr/>
          <p:nvPr/>
        </p:nvSpPr>
        <p:spPr>
          <a:xfrm>
            <a:off x="502920" y="1925571"/>
            <a:ext cx="11183112" cy="3509779"/>
          </a:xfrm>
          <a:prstGeom prst="rect">
            <a:avLst/>
          </a:prstGeom>
          <a:solidFill>
            <a:schemeClr val="tx2"/>
          </a:solidFill>
          <a:ln w="12700">
            <a:solidFill>
              <a:schemeClr val="accent4"/>
            </a:solidFill>
            <a:prstDash val="solid"/>
          </a:ln>
        </p:spPr>
      </p:sp>
      <p:pic>
        <p:nvPicPr>
          <p:cNvPr id="5" name="kubectl-getpods.png" descr="kubectl-getpods.png">    </p:cNvPr>
          <p:cNvPicPr>
            <a:picLocks noChangeAspect="1"/>
          </p:cNvPicPr>
          <p:nvPr/>
        </p:nvPicPr>
        <p:blipFill>
          <a:blip r:embed="rId1"/>
          <a:stretch>
            <a:fillRect/>
          </a:stretch>
        </p:blipFill>
        <p:spPr>
          <a:xfrm>
            <a:off x="548640" y="1971291"/>
            <a:ext cx="11091672" cy="3418339"/>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2 backend, 2 frontend, 1 Postgres</a:t>
            </a:r>
            <a:pPr indent="0" marL="0">
              <a:buNone/>
            </a:pPr>
            <a:r>
              <a:rPr lang="en-US" sz="1800" dirty="0">
                <a:solidFill>
                  <a:schemeClr val="accent6"/>
                </a:solidFill>
              </a:rPr>
              <a:t>, deployed from one Helm chart.</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KUBERNETES + HELM</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Health and metrics</a:t>
            </a:r>
            <a:endParaRPr lang="en-US" sz="3600" dirty="0"/>
          </a:p>
        </p:txBody>
      </p:sp>
      <p:sp>
        <p:nvSpPr>
          <p:cNvPr id="4" name="Frame health_portforward.png"/>
          <p:cNvSpPr/>
          <p:nvPr/>
        </p:nvSpPr>
        <p:spPr>
          <a:xfrm>
            <a:off x="2681284" y="1463040"/>
            <a:ext cx="6826383" cy="1554480"/>
          </a:xfrm>
          <a:prstGeom prst="rect">
            <a:avLst/>
          </a:prstGeom>
          <a:solidFill>
            <a:schemeClr val="tx2"/>
          </a:solidFill>
          <a:ln w="12700">
            <a:solidFill>
              <a:schemeClr val="accent4"/>
            </a:solidFill>
            <a:prstDash val="solid"/>
          </a:ln>
        </p:spPr>
      </p:sp>
      <p:pic>
        <p:nvPicPr>
          <p:cNvPr id="5" name="health_portforward.png" descr="health_portforward.png">    </p:cNvPr>
          <p:cNvPicPr>
            <a:picLocks noChangeAspect="1"/>
          </p:cNvPicPr>
          <p:nvPr/>
        </p:nvPicPr>
        <p:blipFill>
          <a:blip r:embed="rId1"/>
          <a:stretch>
            <a:fillRect/>
          </a:stretch>
        </p:blipFill>
        <p:spPr>
          <a:xfrm>
            <a:off x="2727004" y="1508760"/>
            <a:ext cx="6734943" cy="1463040"/>
          </a:xfrm>
          <a:prstGeom prst="rect">
            <a:avLst/>
          </a:prstGeom>
        </p:spPr>
      </p:pic>
      <p:sp>
        <p:nvSpPr>
          <p:cNvPr id="6" name="Frame metrics.png"/>
          <p:cNvSpPr/>
          <p:nvPr/>
        </p:nvSpPr>
        <p:spPr>
          <a:xfrm>
            <a:off x="3193796" y="3063240"/>
            <a:ext cx="5801360" cy="2834640"/>
          </a:xfrm>
          <a:prstGeom prst="rect">
            <a:avLst/>
          </a:prstGeom>
          <a:solidFill>
            <a:schemeClr val="tx2"/>
          </a:solidFill>
          <a:ln w="12700">
            <a:solidFill>
              <a:schemeClr val="accent4"/>
            </a:solidFill>
            <a:prstDash val="solid"/>
          </a:ln>
        </p:spPr>
      </p:sp>
      <p:pic>
        <p:nvPicPr>
          <p:cNvPr id="7" name="metrics.png" descr="metrics.png">    </p:cNvPr>
          <p:cNvPicPr>
            <a:picLocks noChangeAspect="1"/>
          </p:cNvPicPr>
          <p:nvPr/>
        </p:nvPicPr>
        <p:blipFill>
          <a:blip r:embed="rId2"/>
          <a:stretch>
            <a:fillRect/>
          </a:stretch>
        </p:blipFill>
        <p:spPr>
          <a:xfrm>
            <a:off x="3239516" y="3108960"/>
            <a:ext cx="5709920" cy="2743200"/>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/health</a:t>
            </a:r>
            <a:pPr indent="0" marL="0">
              <a:buNone/>
            </a:pPr>
            <a:r>
              <a:rPr lang="en-US" sz="1800" dirty="0">
                <a:solidFill>
                  <a:schemeClr val="accent6"/>
                </a:solidFill>
              </a:rPr>
              <a:t> is the liveness check, </a:t>
            </a:r>
            <a:pPr indent="0" marL="0">
              <a:buNone/>
            </a:pPr>
            <a:r>
              <a:rPr lang="en-US" sz="1800" b="1" dirty="0">
                <a:solidFill>
                  <a:schemeClr val="accent3"/>
                </a:solidFill>
              </a:rPr>
              <a:t>/metrics</a:t>
            </a:r>
            <a:pPr indent="0" marL="0">
              <a:buNone/>
            </a:pPr>
            <a:r>
              <a:rPr lang="en-US" sz="1800" dirty="0">
                <a:solidFill>
                  <a:schemeClr val="accent6"/>
                </a:solidFill>
              </a:rPr>
              <a:t> feeds Prometheus.</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KUBERNETES + HELM</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The backend scales under load</a:t>
            </a:r>
            <a:endParaRPr lang="en-US" sz="3600" dirty="0"/>
          </a:p>
        </p:txBody>
      </p:sp>
      <p:sp>
        <p:nvSpPr>
          <p:cNvPr id="4" name="Frame hpa-scaling.png"/>
          <p:cNvSpPr/>
          <p:nvPr/>
        </p:nvSpPr>
        <p:spPr>
          <a:xfrm>
            <a:off x="502920" y="1551406"/>
            <a:ext cx="11183112" cy="4258109"/>
          </a:xfrm>
          <a:prstGeom prst="rect">
            <a:avLst/>
          </a:prstGeom>
          <a:solidFill>
            <a:schemeClr val="tx2"/>
          </a:solidFill>
          <a:ln w="12700">
            <a:solidFill>
              <a:schemeClr val="accent4"/>
            </a:solidFill>
            <a:prstDash val="solid"/>
          </a:ln>
        </p:spPr>
      </p:sp>
      <p:pic>
        <p:nvPicPr>
          <p:cNvPr id="5" name="hpa-scaling.png" descr="hpa-scaling.png">    </p:cNvPr>
          <p:cNvPicPr>
            <a:picLocks noChangeAspect="1"/>
          </p:cNvPicPr>
          <p:nvPr/>
        </p:nvPicPr>
        <p:blipFill>
          <a:blip r:embed="rId1"/>
          <a:stretch>
            <a:fillRect/>
          </a:stretch>
        </p:blipFill>
        <p:spPr>
          <a:xfrm>
            <a:off x="548640" y="1597126"/>
            <a:ext cx="11091672" cy="4166669"/>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2 to 5 pods</a:t>
            </a:r>
            <a:pPr indent="0" marL="0">
              <a:buNone/>
            </a:pPr>
            <a:r>
              <a:rPr lang="en-US" sz="1800" dirty="0">
                <a:solidFill>
                  <a:schemeClr val="accent6"/>
                </a:solidFill>
              </a:rPr>
              <a:t> when CPU hit </a:t>
            </a:r>
            <a:pPr indent="0" marL="0">
              <a:buNone/>
            </a:pPr>
            <a:r>
              <a:rPr lang="en-US" sz="1800" b="1" dirty="0">
                <a:solidFill>
                  <a:schemeClr val="accent3"/>
                </a:solidFill>
              </a:rPr>
              <a:t>153%</a:t>
            </a:r>
            <a:pPr indent="0" marL="0">
              <a:buNone/>
            </a:pPr>
            <a:r>
              <a:rPr lang="en-US" sz="1800" dirty="0">
                <a:solidFill>
                  <a:schemeClr val="accent6"/>
                </a:solidFill>
              </a:rPr>
              <a:t> of the 70% target, then back down when the load stopped.</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KUBERNETES + HELM</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The pods the autoscaler created</a:t>
            </a:r>
            <a:endParaRPr lang="en-US" sz="3600" dirty="0"/>
          </a:p>
        </p:txBody>
      </p:sp>
      <p:sp>
        <p:nvSpPr>
          <p:cNvPr id="4" name="Frame hpa-pods.png"/>
          <p:cNvSpPr/>
          <p:nvPr/>
        </p:nvSpPr>
        <p:spPr>
          <a:xfrm>
            <a:off x="1346847" y="1463040"/>
            <a:ext cx="9495259" cy="2194560"/>
          </a:xfrm>
          <a:prstGeom prst="rect">
            <a:avLst/>
          </a:prstGeom>
          <a:solidFill>
            <a:schemeClr val="tx2"/>
          </a:solidFill>
          <a:ln w="12700">
            <a:solidFill>
              <a:schemeClr val="accent4"/>
            </a:solidFill>
            <a:prstDash val="solid"/>
          </a:ln>
        </p:spPr>
      </p:sp>
      <p:pic>
        <p:nvPicPr>
          <p:cNvPr id="5" name="hpa-pods.png" descr="hpa-pods.png">    </p:cNvPr>
          <p:cNvPicPr>
            <a:picLocks noChangeAspect="1"/>
          </p:cNvPicPr>
          <p:nvPr/>
        </p:nvPicPr>
        <p:blipFill>
          <a:blip r:embed="rId1"/>
          <a:stretch>
            <a:fillRect/>
          </a:stretch>
        </p:blipFill>
        <p:spPr>
          <a:xfrm>
            <a:off x="1392567" y="1508760"/>
            <a:ext cx="9403819" cy="2103120"/>
          </a:xfrm>
          <a:prstGeom prst="rect">
            <a:avLst/>
          </a:prstGeom>
        </p:spPr>
      </p:pic>
      <p:sp>
        <p:nvSpPr>
          <p:cNvPr id="6" name="Frame loadtest.png"/>
          <p:cNvSpPr/>
          <p:nvPr/>
        </p:nvSpPr>
        <p:spPr>
          <a:xfrm>
            <a:off x="629830" y="3703320"/>
            <a:ext cx="10929292" cy="2194560"/>
          </a:xfrm>
          <a:prstGeom prst="rect">
            <a:avLst/>
          </a:prstGeom>
          <a:solidFill>
            <a:schemeClr val="tx2"/>
          </a:solidFill>
          <a:ln w="12700">
            <a:solidFill>
              <a:schemeClr val="accent4"/>
            </a:solidFill>
            <a:prstDash val="solid"/>
          </a:ln>
        </p:spPr>
      </p:sp>
      <p:pic>
        <p:nvPicPr>
          <p:cNvPr id="7" name="loadtest.png" descr="loadtest.png">    </p:cNvPr>
          <p:cNvPicPr>
            <a:picLocks noChangeAspect="1"/>
          </p:cNvPicPr>
          <p:nvPr/>
        </p:nvPicPr>
        <p:blipFill>
          <a:blip r:embed="rId2"/>
          <a:stretch>
            <a:fillRect/>
          </a:stretch>
        </p:blipFill>
        <p:spPr>
          <a:xfrm>
            <a:off x="675550" y="3749040"/>
            <a:ext cx="10837852" cy="2103120"/>
          </a:xfrm>
          <a:prstGeom prst="rect">
            <a:avLst/>
          </a:prstGeom>
        </p:spPr>
      </p:pic>
      <p:sp>
        <p:nvSpPr>
          <p:cNvPr id="8" name="Text 4"/>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3 new backend pods</a:t>
            </a:r>
            <a:pPr indent="0" marL="0">
              <a:buNone/>
            </a:pPr>
            <a:r>
              <a:rPr lang="en-US" sz="1800" dirty="0">
                <a:solidFill>
                  <a:schemeClr val="accent6"/>
                </a:solidFill>
              </a:rPr>
              <a:t>, created by the HPA while the load test ran.</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GITOPS</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ArgoCD: Synced and Healthy</a:t>
            </a:r>
            <a:endParaRPr lang="en-US" sz="3600" dirty="0"/>
          </a:p>
        </p:txBody>
      </p:sp>
      <p:sp>
        <p:nvSpPr>
          <p:cNvPr id="4" name="Frame argocd-synced.png"/>
          <p:cNvSpPr/>
          <p:nvPr/>
        </p:nvSpPr>
        <p:spPr>
          <a:xfrm>
            <a:off x="2193989" y="1463040"/>
            <a:ext cx="7800975" cy="4434840"/>
          </a:xfrm>
          <a:prstGeom prst="rect">
            <a:avLst/>
          </a:prstGeom>
          <a:solidFill>
            <a:schemeClr val="tx2"/>
          </a:solidFill>
          <a:ln w="12700">
            <a:solidFill>
              <a:schemeClr val="accent4"/>
            </a:solidFill>
            <a:prstDash val="solid"/>
          </a:ln>
        </p:spPr>
      </p:sp>
      <p:pic>
        <p:nvPicPr>
          <p:cNvPr id="5" name="argocd-synced.png" descr="argocd-synced.png">    </p:cNvPr>
          <p:cNvPicPr>
            <a:picLocks noChangeAspect="1"/>
          </p:cNvPicPr>
          <p:nvPr/>
        </p:nvPicPr>
        <p:blipFill>
          <a:blip r:embed="rId1"/>
          <a:stretch>
            <a:fillRect/>
          </a:stretch>
        </p:blipFill>
        <p:spPr>
          <a:xfrm>
            <a:off x="2239709" y="1508760"/>
            <a:ext cx="7709535"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Auto-sync, prune and self-heal</a:t>
            </a:r>
            <a:pPr indent="0" marL="0">
              <a:buNone/>
            </a:pPr>
            <a:r>
              <a:rPr lang="en-US" sz="1800" dirty="0">
                <a:solidFill>
                  <a:schemeClr val="accent6"/>
                </a:solidFill>
              </a:rPr>
              <a:t> from the main branch of the repo.</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GITOPS</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What ArgoCD manages</a:t>
            </a:r>
            <a:endParaRPr lang="en-US" sz="3600" dirty="0"/>
          </a:p>
        </p:txBody>
      </p:sp>
      <p:sp>
        <p:nvSpPr>
          <p:cNvPr id="4" name="Frame argocd-tree.png"/>
          <p:cNvSpPr/>
          <p:nvPr/>
        </p:nvSpPr>
        <p:spPr>
          <a:xfrm>
            <a:off x="1205967" y="1463040"/>
            <a:ext cx="9777017" cy="4434840"/>
          </a:xfrm>
          <a:prstGeom prst="rect">
            <a:avLst/>
          </a:prstGeom>
          <a:solidFill>
            <a:schemeClr val="tx2"/>
          </a:solidFill>
          <a:ln w="12700">
            <a:solidFill>
              <a:schemeClr val="accent4"/>
            </a:solidFill>
            <a:prstDash val="solid"/>
          </a:ln>
        </p:spPr>
      </p:sp>
      <p:pic>
        <p:nvPicPr>
          <p:cNvPr id="5" name="argocd-tree.png" descr="argocd-tree.png">    </p:cNvPr>
          <p:cNvPicPr>
            <a:picLocks noChangeAspect="1"/>
          </p:cNvPicPr>
          <p:nvPr/>
        </p:nvPicPr>
        <p:blipFill>
          <a:blip r:embed="rId1"/>
          <a:stretch>
            <a:fillRect/>
          </a:stretch>
        </p:blipFill>
        <p:spPr>
          <a:xfrm>
            <a:off x="1251687" y="1508760"/>
            <a:ext cx="9685577"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Every resource</a:t>
            </a:r>
            <a:pPr indent="0" marL="0">
              <a:buNone/>
            </a:pPr>
            <a:r>
              <a:rPr lang="en-US" sz="1800" dirty="0">
                <a:solidFill>
                  <a:schemeClr val="accent6"/>
                </a:solidFill>
              </a:rPr>
              <a:t> of the chart, from services to pods to the StorageClass, all green.</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OBSERVABILITY</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Prometheus targets</a:t>
            </a:r>
            <a:endParaRPr lang="en-US" sz="3600" dirty="0"/>
          </a:p>
        </p:txBody>
      </p:sp>
      <p:sp>
        <p:nvSpPr>
          <p:cNvPr id="4" name="Frame prometheus.png"/>
          <p:cNvSpPr/>
          <p:nvPr/>
        </p:nvSpPr>
        <p:spPr>
          <a:xfrm>
            <a:off x="758859" y="1463040"/>
            <a:ext cx="10671234" cy="4434840"/>
          </a:xfrm>
          <a:prstGeom prst="rect">
            <a:avLst/>
          </a:prstGeom>
          <a:solidFill>
            <a:schemeClr val="tx2"/>
          </a:solidFill>
          <a:ln w="12700">
            <a:solidFill>
              <a:schemeClr val="accent4"/>
            </a:solidFill>
            <a:prstDash val="solid"/>
          </a:ln>
        </p:spPr>
      </p:sp>
      <p:pic>
        <p:nvPicPr>
          <p:cNvPr id="5" name="prometheus.png" descr="prometheus.png">    </p:cNvPr>
          <p:cNvPicPr>
            <a:picLocks noChangeAspect="1"/>
          </p:cNvPicPr>
          <p:nvPr/>
        </p:nvPicPr>
        <p:blipFill>
          <a:blip r:embed="rId1"/>
          <a:stretch>
            <a:fillRect/>
          </a:stretch>
        </p:blipFill>
        <p:spPr>
          <a:xfrm>
            <a:off x="804579" y="1508760"/>
            <a:ext cx="10579794"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Both backend pods UP</a:t>
            </a:r>
            <a:pPr indent="0" marL="0">
              <a:buNone/>
            </a:pPr>
            <a:r>
              <a:rPr lang="en-US" sz="1800" dirty="0">
                <a:solidFill>
                  <a:schemeClr val="accent6"/>
                </a:solidFill>
              </a:rPr>
              <a:t>, scraped through a ServiceMonitor.</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OBSERVABILITY</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Grafana dashboard under load</a:t>
            </a:r>
            <a:endParaRPr lang="en-US" sz="3600" dirty="0"/>
          </a:p>
        </p:txBody>
      </p:sp>
      <p:sp>
        <p:nvSpPr>
          <p:cNvPr id="4" name="Frame grafana.png"/>
          <p:cNvSpPr/>
          <p:nvPr/>
        </p:nvSpPr>
        <p:spPr>
          <a:xfrm>
            <a:off x="2211752" y="1463040"/>
            <a:ext cx="7765447" cy="4434840"/>
          </a:xfrm>
          <a:prstGeom prst="rect">
            <a:avLst/>
          </a:prstGeom>
          <a:solidFill>
            <a:schemeClr val="tx2"/>
          </a:solidFill>
          <a:ln w="12700">
            <a:solidFill>
              <a:schemeClr val="accent4"/>
            </a:solidFill>
            <a:prstDash val="solid"/>
          </a:ln>
        </p:spPr>
      </p:sp>
      <p:pic>
        <p:nvPicPr>
          <p:cNvPr id="5" name="grafana.png" descr="grafana.png">    </p:cNvPr>
          <p:cNvPicPr>
            <a:picLocks noChangeAspect="1"/>
          </p:cNvPicPr>
          <p:nvPr/>
        </p:nvPicPr>
        <p:blipFill>
          <a:blip r:embed="rId1"/>
          <a:stretch>
            <a:fillRect/>
          </a:stretch>
        </p:blipFill>
        <p:spPr>
          <a:xfrm>
            <a:off x="2257472" y="1508760"/>
            <a:ext cx="7674007"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Requests, errors, latency and CPU</a:t>
            </a:r>
            <a:pPr indent="0" marL="0">
              <a:buNone/>
            </a:pPr>
            <a:r>
              <a:rPr lang="en-US" sz="1800" dirty="0">
                <a:solidFill>
                  <a:schemeClr val="accent6"/>
                </a:solidFill>
              </a:rPr>
              <a:t>, provisioned from a ConfigMap in the repo.</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CLEANUP</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Destroyed the same day</a:t>
            </a:r>
            <a:endParaRPr lang="en-US" sz="3600" dirty="0"/>
          </a:p>
        </p:txBody>
      </p:sp>
      <p:sp>
        <p:nvSpPr>
          <p:cNvPr id="4" name="Frame tf-destroy.png"/>
          <p:cNvSpPr/>
          <p:nvPr/>
        </p:nvSpPr>
        <p:spPr>
          <a:xfrm>
            <a:off x="2236349" y="1463040"/>
            <a:ext cx="7716255" cy="4434840"/>
          </a:xfrm>
          <a:prstGeom prst="rect">
            <a:avLst/>
          </a:prstGeom>
          <a:solidFill>
            <a:schemeClr val="tx2"/>
          </a:solidFill>
          <a:ln w="12700">
            <a:solidFill>
              <a:schemeClr val="accent4"/>
            </a:solidFill>
            <a:prstDash val="solid"/>
          </a:ln>
        </p:spPr>
      </p:sp>
      <p:pic>
        <p:nvPicPr>
          <p:cNvPr id="5" name="tf-destroy.png" descr="tf-destroy.png">    </p:cNvPr>
          <p:cNvPicPr>
            <a:picLocks noChangeAspect="1"/>
          </p:cNvPicPr>
          <p:nvPr/>
        </p:nvPicPr>
        <p:blipFill>
          <a:blip r:embed="rId1"/>
          <a:stretch>
            <a:fillRect/>
          </a:stretch>
        </p:blipFill>
        <p:spPr>
          <a:xfrm>
            <a:off x="2282069" y="1508760"/>
            <a:ext cx="7624815" cy="4343400"/>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800" b="1" dirty="0">
                <a:solidFill>
                  <a:schemeClr val="accent3"/>
                </a:solidFill>
              </a:rPr>
              <a:t>59 destroyed</a:t>
            </a:r>
            <a:pPr indent="0" marL="0">
              <a:buNone/>
            </a:pPr>
            <a:r>
              <a:rPr lang="en-US" sz="1800" dirty="0">
                <a:solidFill>
                  <a:schemeClr val="accent6"/>
                </a:solidFill>
              </a:rPr>
              <a:t>. The cluster costs about $0.40 an hour, so it only exists while I use it.</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400" b="1" spc="300" kern="0" dirty="0">
                <a:solidFill>
                  <a:schemeClr val="accent1"/>
                </a:solidFill>
              </a:rPr>
              <a:t>LESSONS</a:t>
            </a:r>
            <a:endParaRPr lang="en-US" sz="1400" dirty="0"/>
          </a:p>
        </p:txBody>
      </p:sp>
      <p:sp>
        <p:nvSpPr>
          <p:cNvPr id="3" name="Text 0"/>
          <p:cNvSpPr/>
          <p:nvPr>
            <p:ph idx="100" type="title" hasCustomPrompt="1"/>
          </p:nvPr>
        </p:nvSpPr>
        <p:spPr>
          <a:xfrm>
            <a:off x="548640" y="658368"/>
            <a:ext cx="11064240" cy="731520"/>
          </a:xfrm>
          <a:prstGeom prst="rect">
            <a:avLst/>
          </a:prstGeom>
          <a:noFill/>
          <a:ln/>
        </p:spPr>
        <p:txBody>
          <a:bodyPr wrap="square" lIns="0" tIns="0" rIns="0" bIns="0" rtlCol="0" anchor="ctr"/>
          <a:lstStyle/>
          <a:p>
            <a:pPr algn="l" indent="0" marL="0">
              <a:buNone/>
            </a:pPr>
            <a:r>
              <a:rPr lang="en-US" sz="3600" b="1" dirty="0">
                <a:solidFill>
                  <a:schemeClr val="bg1"/>
                </a:solidFill>
              </a:rPr>
              <a:t>What went wrong, and what I learned</a:t>
            </a:r>
            <a:endParaRPr lang="en-US" sz="3600" dirty="0"/>
          </a:p>
        </p:txBody>
      </p:sp>
      <p:sp>
        <p:nvSpPr>
          <p:cNvPr id="4" name="Lesson 1"/>
          <p:cNvSpPr/>
          <p:nvPr/>
        </p:nvSpPr>
        <p:spPr>
          <a:xfrm>
            <a:off x="548640" y="1600200"/>
            <a:ext cx="3611880" cy="4160520"/>
          </a:xfrm>
          <a:prstGeom prst="roundRect">
            <a:avLst>
              <a:gd name="adj" fmla="val 2532"/>
            </a:avLst>
          </a:prstGeom>
          <a:solidFill>
            <a:schemeClr val="tx2"/>
          </a:solidFill>
          <a:ln w="12700">
            <a:solidFill>
              <a:schemeClr val="tx2"/>
            </a:solidFill>
            <a:prstDash val="solid"/>
          </a:ln>
        </p:spPr>
      </p:sp>
      <p:sp>
        <p:nvSpPr>
          <p:cNvPr id="5" name="Shape 3"/>
          <p:cNvSpPr/>
          <p:nvPr/>
        </p:nvSpPr>
        <p:spPr>
          <a:xfrm>
            <a:off x="822960" y="1874520"/>
            <a:ext cx="640080" cy="640080"/>
          </a:xfrm>
          <a:prstGeom prst="ellipse">
            <a:avLst/>
          </a:prstGeom>
          <a:solidFill>
            <a:schemeClr val="accent3"/>
          </a:solidFill>
          <a:ln w="12700">
            <a:solidFill>
              <a:schemeClr val="accent3"/>
            </a:solidFill>
            <a:prstDash val="solid"/>
          </a:ln>
        </p:spPr>
      </p:sp>
      <p:sp>
        <p:nvSpPr>
          <p:cNvPr id="6" name="Text 4"/>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7" name="Text 5"/>
          <p:cNvSpPr txBox="1"/>
          <p:nvPr/>
        </p:nvSpPr>
        <p:spPr>
          <a:xfrm>
            <a:off x="822960" y="2697480"/>
            <a:ext cx="3063240" cy="457200"/>
          </a:xfrm>
          <a:prstGeom prst="rect">
            <a:avLst/>
          </a:prstGeom>
          <a:noFill/>
          <a:ln/>
        </p:spPr>
        <p:txBody>
          <a:bodyPr wrap="square" lIns="0" tIns="0" rIns="0" bIns="0" rtlCol="0" anchor="ctr"/>
          <a:lstStyle/>
          <a:p>
            <a:pPr indent="0" marL="0">
              <a:buNone/>
            </a:pPr>
            <a:r>
              <a:rPr lang="en-US" sz="2200" b="1" dirty="0">
                <a:solidFill>
                  <a:schemeClr val="bg1"/>
                </a:solidFill>
              </a:rPr>
              <a:t>Free plan limits</a:t>
            </a:r>
            <a:endParaRPr lang="en-US" sz="2200" dirty="0"/>
          </a:p>
        </p:txBody>
      </p:sp>
      <p:sp>
        <p:nvSpPr>
          <p:cNvPr id="8" name="Text 6"/>
          <p:cNvSpPr txBox="1"/>
          <p:nvPr/>
        </p:nvSpPr>
        <p:spPr>
          <a:xfrm>
            <a:off x="822960" y="3291840"/>
            <a:ext cx="3063240" cy="1554480"/>
          </a:xfrm>
          <a:prstGeom prst="rect">
            <a:avLst/>
          </a:prstGeom>
          <a:noFill/>
          <a:ln/>
        </p:spPr>
        <p:txBody>
          <a:bodyPr wrap="square" lIns="0" tIns="0" rIns="0" bIns="0" rtlCol="0" anchor="t"/>
          <a:lstStyle/>
          <a:p>
            <a:pPr indent="0" marL="0">
              <a:buNone/>
            </a:pPr>
            <a:r>
              <a:rPr lang="en-US" sz="1700" dirty="0">
                <a:solidFill>
                  <a:schemeClr val="accent6"/>
                </a:solidFill>
              </a:rPr>
              <a:t>t3.medium was rejected and the account allows only 5 vCPUs. Fix: 2 x m7i-flex.large.</a:t>
            </a:r>
            <a:endParaRPr lang="en-US" sz="1700" dirty="0"/>
          </a:p>
        </p:txBody>
      </p:sp>
      <p:sp>
        <p:nvSpPr>
          <p:cNvPr id="9" name="Text 7"/>
          <p:cNvSpPr txBox="1"/>
          <p:nvPr/>
        </p:nvSpPr>
        <p:spPr>
          <a:xfrm>
            <a:off x="822960" y="4983480"/>
            <a:ext cx="3063240" cy="548640"/>
          </a:xfrm>
          <a:prstGeom prst="rect">
            <a:avLst/>
          </a:prstGeom>
          <a:noFill/>
          <a:ln/>
        </p:spPr>
        <p:txBody>
          <a:bodyPr wrap="square" lIns="0" tIns="0" rIns="0" bIns="0" rtlCol="0" anchor="t"/>
          <a:lstStyle/>
          <a:p>
            <a:pPr indent="0" marL="0">
              <a:buNone/>
            </a:pPr>
            <a:r>
              <a:rPr lang="en-US" sz="1800" b="1" dirty="0">
                <a:solidFill>
                  <a:schemeClr val="accent3"/>
                </a:solidFill>
              </a:rPr>
              <a:t>Check quotas before designing.</a:t>
            </a:r>
            <a:endParaRPr lang="en-US" sz="1800" dirty="0"/>
          </a:p>
        </p:txBody>
      </p:sp>
      <p:sp>
        <p:nvSpPr>
          <p:cNvPr id="10" name="Lesson 2"/>
          <p:cNvSpPr/>
          <p:nvPr/>
        </p:nvSpPr>
        <p:spPr>
          <a:xfrm>
            <a:off x="4288536" y="1600200"/>
            <a:ext cx="3611880" cy="4160520"/>
          </a:xfrm>
          <a:prstGeom prst="roundRect">
            <a:avLst>
              <a:gd name="adj" fmla="val 2532"/>
            </a:avLst>
          </a:prstGeom>
          <a:solidFill>
            <a:schemeClr val="tx2"/>
          </a:solidFill>
          <a:ln w="12700">
            <a:solidFill>
              <a:schemeClr val="tx2"/>
            </a:solidFill>
            <a:prstDash val="solid"/>
          </a:ln>
        </p:spPr>
      </p:sp>
      <p:sp>
        <p:nvSpPr>
          <p:cNvPr id="11" name="Shape 9"/>
          <p:cNvSpPr/>
          <p:nvPr/>
        </p:nvSpPr>
        <p:spPr>
          <a:xfrm>
            <a:off x="4562856" y="1874520"/>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4562856" y="18745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3" name="Text 11"/>
          <p:cNvSpPr txBox="1"/>
          <p:nvPr/>
        </p:nvSpPr>
        <p:spPr>
          <a:xfrm>
            <a:off x="4562856" y="2697480"/>
            <a:ext cx="3063240" cy="457200"/>
          </a:xfrm>
          <a:prstGeom prst="rect">
            <a:avLst/>
          </a:prstGeom>
          <a:noFill/>
          <a:ln/>
        </p:spPr>
        <p:txBody>
          <a:bodyPr wrap="square" lIns="0" tIns="0" rIns="0" bIns="0" rtlCol="0" anchor="ctr"/>
          <a:lstStyle/>
          <a:p>
            <a:pPr indent="0" marL="0">
              <a:buNone/>
            </a:pPr>
            <a:r>
              <a:rPr lang="en-US" sz="2200" b="1" dirty="0">
                <a:solidFill>
                  <a:schemeClr val="bg1"/>
                </a:solidFill>
              </a:rPr>
              <a:t>EBS driver crash loop</a:t>
            </a:r>
            <a:endParaRPr lang="en-US" sz="2200" dirty="0"/>
          </a:p>
        </p:txBody>
      </p:sp>
      <p:sp>
        <p:nvSpPr>
          <p:cNvPr id="14" name="Text 12"/>
          <p:cNvSpPr txBox="1"/>
          <p:nvPr/>
        </p:nvSpPr>
        <p:spPr>
          <a:xfrm>
            <a:off x="4562856" y="3291840"/>
            <a:ext cx="3063240" cy="1554480"/>
          </a:xfrm>
          <a:prstGeom prst="rect">
            <a:avLst/>
          </a:prstGeom>
          <a:noFill/>
          <a:ln/>
        </p:spPr>
        <p:txBody>
          <a:bodyPr wrap="square" lIns="0" tIns="0" rIns="0" bIns="0" rtlCol="0" anchor="t"/>
          <a:lstStyle/>
          <a:p>
            <a:pPr indent="0" marL="0">
              <a:buNone/>
            </a:pPr>
            <a:r>
              <a:rPr lang="en-US" sz="1700" dirty="0">
                <a:solidFill>
                  <a:schemeClr val="accent6"/>
                </a:solidFill>
              </a:rPr>
              <a:t>Pods could not use the node's credentials, so Postgres had no disk. Fix: EKS Pod Identity.</a:t>
            </a:r>
            <a:endParaRPr lang="en-US" sz="1700" dirty="0"/>
          </a:p>
        </p:txBody>
      </p:sp>
      <p:sp>
        <p:nvSpPr>
          <p:cNvPr id="15" name="Text 13"/>
          <p:cNvSpPr txBox="1"/>
          <p:nvPr/>
        </p:nvSpPr>
        <p:spPr>
          <a:xfrm>
            <a:off x="4562856" y="4983480"/>
            <a:ext cx="3063240" cy="548640"/>
          </a:xfrm>
          <a:prstGeom prst="rect">
            <a:avLst/>
          </a:prstGeom>
          <a:noFill/>
          <a:ln/>
        </p:spPr>
        <p:txBody>
          <a:bodyPr wrap="square" lIns="0" tIns="0" rIns="0" bIns="0" rtlCol="0" anchor="t"/>
          <a:lstStyle/>
          <a:p>
            <a:pPr indent="0" marL="0">
              <a:buNone/>
            </a:pPr>
            <a:r>
              <a:rPr lang="en-US" sz="1800" b="1" dirty="0">
                <a:solidFill>
                  <a:schemeClr val="accent1"/>
                </a:solidFill>
              </a:rPr>
              <a:t>Read the logs, don't guess.</a:t>
            </a:r>
            <a:endParaRPr lang="en-US" sz="1800" dirty="0"/>
          </a:p>
        </p:txBody>
      </p:sp>
      <p:sp>
        <p:nvSpPr>
          <p:cNvPr id="16" name="Lesson 3"/>
          <p:cNvSpPr/>
          <p:nvPr/>
        </p:nvSpPr>
        <p:spPr>
          <a:xfrm>
            <a:off x="8028432" y="1600200"/>
            <a:ext cx="3611880" cy="4160520"/>
          </a:xfrm>
          <a:prstGeom prst="roundRect">
            <a:avLst>
              <a:gd name="adj" fmla="val 2532"/>
            </a:avLst>
          </a:prstGeom>
          <a:solidFill>
            <a:schemeClr val="tx2"/>
          </a:solidFill>
          <a:ln w="12700">
            <a:solidFill>
              <a:schemeClr val="tx2"/>
            </a:solidFill>
            <a:prstDash val="solid"/>
          </a:ln>
        </p:spPr>
      </p:sp>
      <p:sp>
        <p:nvSpPr>
          <p:cNvPr id="17" name="Shape 15"/>
          <p:cNvSpPr/>
          <p:nvPr/>
        </p:nvSpPr>
        <p:spPr>
          <a:xfrm>
            <a:off x="8302752" y="1874520"/>
            <a:ext cx="640080" cy="640080"/>
          </a:xfrm>
          <a:prstGeom prst="ellipse">
            <a:avLst/>
          </a:prstGeom>
          <a:solidFill>
            <a:schemeClr val="accent2"/>
          </a:solidFill>
          <a:ln w="12700">
            <a:solidFill>
              <a:schemeClr val="accent2"/>
            </a:solidFill>
            <a:prstDash val="solid"/>
          </a:ln>
        </p:spPr>
      </p:sp>
      <p:sp>
        <p:nvSpPr>
          <p:cNvPr id="18" name="Text 16"/>
          <p:cNvSpPr txBox="1"/>
          <p:nvPr/>
        </p:nvSpPr>
        <p:spPr>
          <a:xfrm>
            <a:off x="8302752" y="18745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9" name="Text 17"/>
          <p:cNvSpPr txBox="1"/>
          <p:nvPr/>
        </p:nvSpPr>
        <p:spPr>
          <a:xfrm>
            <a:off x="8302752" y="2697480"/>
            <a:ext cx="3063240" cy="457200"/>
          </a:xfrm>
          <a:prstGeom prst="rect">
            <a:avLst/>
          </a:prstGeom>
          <a:noFill/>
          <a:ln/>
        </p:spPr>
        <p:txBody>
          <a:bodyPr wrap="square" lIns="0" tIns="0" rIns="0" bIns="0" rtlCol="0" anchor="ctr"/>
          <a:lstStyle/>
          <a:p>
            <a:pPr indent="0" marL="0">
              <a:buNone/>
            </a:pPr>
            <a:r>
              <a:rPr lang="en-US" sz="2200" b="1" dirty="0">
                <a:solidFill>
                  <a:schemeClr val="bg1"/>
                </a:solidFill>
              </a:rPr>
              <a:t>ArgoCD on EKS</a:t>
            </a:r>
            <a:endParaRPr lang="en-US" sz="2200" dirty="0"/>
          </a:p>
        </p:txBody>
      </p:sp>
      <p:sp>
        <p:nvSpPr>
          <p:cNvPr id="20" name="Text 18"/>
          <p:cNvSpPr txBox="1"/>
          <p:nvPr/>
        </p:nvSpPr>
        <p:spPr>
          <a:xfrm>
            <a:off x="8302752" y="3291840"/>
            <a:ext cx="3063240" cy="1554480"/>
          </a:xfrm>
          <a:prstGeom prst="rect">
            <a:avLst/>
          </a:prstGeom>
          <a:noFill/>
          <a:ln/>
        </p:spPr>
        <p:txBody>
          <a:bodyPr wrap="square" lIns="0" tIns="0" rIns="0" bIns="0" rtlCol="0" anchor="t"/>
          <a:lstStyle/>
          <a:p>
            <a:pPr indent="0" marL="0">
              <a:buNone/>
            </a:pPr>
            <a:r>
              <a:rPr lang="en-US" sz="1700" dirty="0">
                <a:solidFill>
                  <a:schemeClr val="accent6"/>
                </a:solidFill>
              </a:rPr>
              <a:t>The API server returned 503 for the schema. Fix: unregister the two metrics APIs while ArgoCD starts.</a:t>
            </a:r>
            <a:endParaRPr lang="en-US" sz="1700" dirty="0"/>
          </a:p>
        </p:txBody>
      </p:sp>
      <p:sp>
        <p:nvSpPr>
          <p:cNvPr id="21" name="Text 19"/>
          <p:cNvSpPr txBox="1"/>
          <p:nvPr/>
        </p:nvSpPr>
        <p:spPr>
          <a:xfrm>
            <a:off x="8302752" y="4983480"/>
            <a:ext cx="3063240" cy="548640"/>
          </a:xfrm>
          <a:prstGeom prst="rect">
            <a:avLst/>
          </a:prstGeom>
          <a:noFill/>
          <a:ln/>
        </p:spPr>
        <p:txBody>
          <a:bodyPr wrap="square" lIns="0" tIns="0" rIns="0" bIns="0" rtlCol="0" anchor="t"/>
          <a:lstStyle/>
          <a:p>
            <a:pPr indent="0" marL="0">
              <a:buNone/>
            </a:pPr>
            <a:r>
              <a:rPr lang="en-US" sz="1800" b="1" dirty="0">
                <a:solidFill>
                  <a:schemeClr val="accent2"/>
                </a:solidFill>
              </a:rPr>
              <a:t>Reproduce on a clean cluster.</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9326880" y="-1371600"/>
            <a:ext cx="4937760" cy="4937760"/>
          </a:xfrm>
          <a:prstGeom prst="ellipse">
            <a:avLst/>
          </a:prstGeom>
          <a:solidFill>
            <a:schemeClr val="accent2">
              <a:alpha val="20000"/>
            </a:schemeClr>
          </a:solidFill>
          <a:ln w="12700">
            <a:solidFill>
              <a:schemeClr val="tx1">
                <a:alpha val="0"/>
              </a:schemeClr>
            </a:solidFill>
            <a:prstDash val="solid"/>
          </a:ln>
        </p:spPr>
      </p:sp>
      <p:sp>
        <p:nvSpPr>
          <p:cNvPr id="3" name="Text 1"/>
          <p:cNvSpPr txBox="1"/>
          <p:nvPr/>
        </p:nvSpPr>
        <p:spPr>
          <a:xfrm>
            <a:off x="731520" y="640080"/>
            <a:ext cx="7315200" cy="365760"/>
          </a:xfrm>
          <a:prstGeom prst="rect">
            <a:avLst/>
          </a:prstGeom>
          <a:noFill/>
          <a:ln/>
        </p:spPr>
        <p:txBody>
          <a:bodyPr wrap="square" lIns="0" tIns="0" rIns="0" bIns="0" rtlCol="0" anchor="ctr"/>
          <a:lstStyle/>
          <a:p>
            <a:pPr indent="0" marL="0">
              <a:buNone/>
            </a:pPr>
            <a:r>
              <a:rPr lang="en-US" sz="1600" b="1" spc="400" kern="0" dirty="0">
                <a:solidFill>
                  <a:schemeClr val="accent1"/>
                </a:solidFill>
              </a:rPr>
              <a:t>NEXT STEPS</a:t>
            </a:r>
            <a:endParaRPr lang="en-US" sz="1600" dirty="0"/>
          </a:p>
        </p:txBody>
      </p:sp>
      <p:sp>
        <p:nvSpPr>
          <p:cNvPr id="4" name="Text 2"/>
          <p:cNvSpPr txBox="1"/>
          <p:nvPr/>
        </p:nvSpPr>
        <p:spPr>
          <a:xfrm>
            <a:off x="731520" y="1005840"/>
            <a:ext cx="8229600" cy="822960"/>
          </a:xfrm>
          <a:prstGeom prst="rect">
            <a:avLst/>
          </a:prstGeom>
          <a:noFill/>
          <a:ln/>
        </p:spPr>
        <p:txBody>
          <a:bodyPr wrap="square" lIns="0" tIns="0" rIns="0" bIns="0" rtlCol="0" anchor="ctr"/>
          <a:lstStyle/>
          <a:p>
            <a:pPr indent="0" marL="0">
              <a:buNone/>
            </a:pPr>
            <a:r>
              <a:rPr lang="en-US" sz="4000" b="1" dirty="0">
                <a:solidFill>
                  <a:schemeClr val="bg1"/>
                </a:solidFill>
              </a:rPr>
              <a:t>What I would do next</a:t>
            </a:r>
            <a:endParaRPr lang="en-US" sz="4000" dirty="0"/>
          </a:p>
        </p:txBody>
      </p:sp>
      <p:sp>
        <p:nvSpPr>
          <p:cNvPr id="5" name="Shape 3"/>
          <p:cNvSpPr/>
          <p:nvPr/>
        </p:nvSpPr>
        <p:spPr>
          <a:xfrm>
            <a:off x="731520" y="2221992"/>
            <a:ext cx="411480" cy="411480"/>
          </a:xfrm>
          <a:prstGeom prst="ellipse">
            <a:avLst/>
          </a:prstGeom>
          <a:solidFill>
            <a:schemeClr val="accent2"/>
          </a:solidFill>
          <a:ln w="12700">
            <a:solidFill>
              <a:schemeClr val="accent2"/>
            </a:solidFill>
            <a:prstDash val="solid"/>
          </a:ln>
        </p:spPr>
      </p:sp>
      <p:sp>
        <p:nvSpPr>
          <p:cNvPr id="6" name="Text 4"/>
          <p:cNvSpPr txBox="1"/>
          <p:nvPr/>
        </p:nvSpPr>
        <p:spPr>
          <a:xfrm>
            <a:off x="731520" y="2221992"/>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5"/>
          <p:cNvSpPr txBox="1"/>
          <p:nvPr/>
        </p:nvSpPr>
        <p:spPr>
          <a:xfrm>
            <a:off x="1371600" y="2148840"/>
            <a:ext cx="7772400" cy="548640"/>
          </a:xfrm>
          <a:prstGeom prst="rect">
            <a:avLst/>
          </a:prstGeom>
          <a:noFill/>
          <a:ln/>
        </p:spPr>
        <p:txBody>
          <a:bodyPr wrap="square" lIns="0" tIns="0" rIns="0" bIns="0" rtlCol="0" anchor="ctr"/>
          <a:lstStyle/>
          <a:p>
            <a:pPr indent="0" marL="0">
              <a:buNone/>
            </a:pPr>
            <a:r>
              <a:rPr lang="en-US" sz="2200" dirty="0">
                <a:solidFill>
                  <a:schemeClr val="bg1"/>
                </a:solidFill>
              </a:rPr>
              <a:t>Managed database (Amazon RDS) with backups</a:t>
            </a:r>
            <a:endParaRPr lang="en-US" sz="2200" dirty="0"/>
          </a:p>
        </p:txBody>
      </p:sp>
      <p:sp>
        <p:nvSpPr>
          <p:cNvPr id="8" name="Shape 6"/>
          <p:cNvSpPr/>
          <p:nvPr/>
        </p:nvSpPr>
        <p:spPr>
          <a:xfrm>
            <a:off x="731520" y="2999232"/>
            <a:ext cx="411480" cy="411480"/>
          </a:xfrm>
          <a:prstGeom prst="ellipse">
            <a:avLst/>
          </a:prstGeom>
          <a:solidFill>
            <a:schemeClr val="accent2"/>
          </a:solidFill>
          <a:ln w="12700">
            <a:solidFill>
              <a:schemeClr val="accent2"/>
            </a:solidFill>
            <a:prstDash val="solid"/>
          </a:ln>
        </p:spPr>
      </p:sp>
      <p:sp>
        <p:nvSpPr>
          <p:cNvPr id="9" name="Text 7"/>
          <p:cNvSpPr txBox="1"/>
          <p:nvPr/>
        </p:nvSpPr>
        <p:spPr>
          <a:xfrm>
            <a:off x="731520" y="2999232"/>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Text 8"/>
          <p:cNvSpPr txBox="1"/>
          <p:nvPr/>
        </p:nvSpPr>
        <p:spPr>
          <a:xfrm>
            <a:off x="1371600" y="2926080"/>
            <a:ext cx="7772400" cy="548640"/>
          </a:xfrm>
          <a:prstGeom prst="rect">
            <a:avLst/>
          </a:prstGeom>
          <a:noFill/>
          <a:ln/>
        </p:spPr>
        <p:txBody>
          <a:bodyPr wrap="square" lIns="0" tIns="0" rIns="0" bIns="0" rtlCol="0" anchor="ctr"/>
          <a:lstStyle/>
          <a:p>
            <a:pPr indent="0" marL="0">
              <a:buNone/>
            </a:pPr>
            <a:r>
              <a:rPr lang="en-US" sz="2200" dirty="0">
                <a:solidFill>
                  <a:schemeClr val="bg1"/>
                </a:solidFill>
              </a:rPr>
              <a:t>HTTPS with a real domain and secure cookies</a:t>
            </a:r>
            <a:endParaRPr lang="en-US" sz="2200" dirty="0"/>
          </a:p>
        </p:txBody>
      </p:sp>
      <p:sp>
        <p:nvSpPr>
          <p:cNvPr id="11" name="Shape 9"/>
          <p:cNvSpPr/>
          <p:nvPr/>
        </p:nvSpPr>
        <p:spPr>
          <a:xfrm>
            <a:off x="731520" y="3776472"/>
            <a:ext cx="411480" cy="411480"/>
          </a:xfrm>
          <a:prstGeom prst="ellipse">
            <a:avLst/>
          </a:prstGeom>
          <a:solidFill>
            <a:schemeClr val="accent2"/>
          </a:solidFill>
          <a:ln w="12700">
            <a:solidFill>
              <a:schemeClr val="accent2"/>
            </a:solidFill>
            <a:prstDash val="solid"/>
          </a:ln>
        </p:spPr>
      </p:sp>
      <p:sp>
        <p:nvSpPr>
          <p:cNvPr id="12" name="Text 10"/>
          <p:cNvSpPr txBox="1"/>
          <p:nvPr/>
        </p:nvSpPr>
        <p:spPr>
          <a:xfrm>
            <a:off x="731520" y="3776472"/>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3" name="Text 11"/>
          <p:cNvSpPr txBox="1"/>
          <p:nvPr/>
        </p:nvSpPr>
        <p:spPr>
          <a:xfrm>
            <a:off x="1371600" y="3703320"/>
            <a:ext cx="7772400" cy="548640"/>
          </a:xfrm>
          <a:prstGeom prst="rect">
            <a:avLst/>
          </a:prstGeom>
          <a:noFill/>
          <a:ln/>
        </p:spPr>
        <p:txBody>
          <a:bodyPr wrap="square" lIns="0" tIns="0" rIns="0" bIns="0" rtlCol="0" anchor="ctr"/>
          <a:lstStyle/>
          <a:p>
            <a:pPr indent="0" marL="0">
              <a:buNone/>
            </a:pPr>
            <a:r>
              <a:rPr lang="en-US" sz="2200" dirty="0">
                <a:solidFill>
                  <a:schemeClr val="bg1"/>
                </a:solidFill>
              </a:rPr>
              <a:t>CI step that bumps the image tag automatically</a:t>
            </a:r>
            <a:endParaRPr lang="en-US" sz="2200" dirty="0"/>
          </a:p>
        </p:txBody>
      </p:sp>
      <p:sp>
        <p:nvSpPr>
          <p:cNvPr id="14" name="Shape 12"/>
          <p:cNvSpPr/>
          <p:nvPr/>
        </p:nvSpPr>
        <p:spPr>
          <a:xfrm>
            <a:off x="731520" y="4553712"/>
            <a:ext cx="411480" cy="411480"/>
          </a:xfrm>
          <a:prstGeom prst="ellipse">
            <a:avLst/>
          </a:prstGeom>
          <a:solidFill>
            <a:schemeClr val="accent2"/>
          </a:solidFill>
          <a:ln w="12700">
            <a:solidFill>
              <a:schemeClr val="accent2"/>
            </a:solidFill>
            <a:prstDash val="solid"/>
          </a:ln>
        </p:spPr>
      </p:sp>
      <p:sp>
        <p:nvSpPr>
          <p:cNvPr id="15" name="Text 13"/>
          <p:cNvSpPr txBox="1"/>
          <p:nvPr/>
        </p:nvSpPr>
        <p:spPr>
          <a:xfrm>
            <a:off x="731520" y="4553712"/>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6" name="Text 14"/>
          <p:cNvSpPr txBox="1"/>
          <p:nvPr/>
        </p:nvSpPr>
        <p:spPr>
          <a:xfrm>
            <a:off x="1371600" y="4480560"/>
            <a:ext cx="7772400" cy="548640"/>
          </a:xfrm>
          <a:prstGeom prst="rect">
            <a:avLst/>
          </a:prstGeom>
          <a:noFill/>
          <a:ln/>
        </p:spPr>
        <p:txBody>
          <a:bodyPr wrap="square" lIns="0" tIns="0" rIns="0" bIns="0" rtlCol="0" anchor="ctr"/>
          <a:lstStyle/>
          <a:p>
            <a:pPr indent="0" marL="0">
              <a:buNone/>
            </a:pPr>
            <a:r>
              <a:rPr lang="en-US" sz="2200" dirty="0">
                <a:solidFill>
                  <a:schemeClr val="bg1"/>
                </a:solidFill>
              </a:rPr>
              <a:t>Restrict the EKS API endpoint; add rate limiting</a:t>
            </a:r>
            <a:endParaRPr lang="en-US" sz="2200" dirty="0"/>
          </a:p>
        </p:txBody>
      </p:sp>
      <p:sp>
        <p:nvSpPr>
          <p:cNvPr id="17" name="Text 15"/>
          <p:cNvSpPr txBox="1"/>
          <p:nvPr/>
        </p:nvSpPr>
        <p:spPr>
          <a:xfrm>
            <a:off x="731520" y="5486400"/>
            <a:ext cx="7315200" cy="457200"/>
          </a:xfrm>
          <a:prstGeom prst="rect">
            <a:avLst/>
          </a:prstGeom>
          <a:noFill/>
          <a:ln/>
        </p:spPr>
        <p:txBody>
          <a:bodyPr wrap="square" lIns="0" tIns="0" rIns="0" bIns="0" rtlCol="0" anchor="ctr"/>
          <a:lstStyle/>
          <a:p>
            <a:pPr indent="0" marL="0">
              <a:buNone/>
            </a:pPr>
            <a:r>
              <a:rPr lang="en-US" sz="2400" b="1" dirty="0">
                <a:solidFill>
                  <a:schemeClr val="accent3"/>
                </a:solidFill>
              </a:rPr>
              <a:t>github.com/AhmadAnzar/GitTogether</a:t>
            </a:r>
            <a:endParaRPr lang="en-US" sz="2400" dirty="0"/>
          </a:p>
        </p:txBody>
      </p:sp>
    </p:spTree>
  </p:cSld>
  <p:clrMapOvr>
    <a:masterClrMapping/>
  </p:clrMapOvr>
</p:sld>
</file>

<file path=ppt/theme/theme1.xml><?xml version="1.0" encoding="utf-8"?>
<a:theme xmlns:a="http://schemas.openxmlformats.org/drawingml/2006/main" name="GitTogether Dark">
  <a:themeElements>
    <a:clrScheme name="GitTogether Dark">
      <a:dk1>
        <a:srgbClr val="0E131F"/>
      </a:dk1>
      <a:lt1>
        <a:srgbClr val="FFFFFF"/>
      </a:lt1>
      <a:dk2>
        <a:srgbClr val="1C2436"/>
      </a:dk2>
      <a:lt2>
        <a:srgbClr val="E6E9F0"/>
      </a:lt2>
      <a:accent1>
        <a:srgbClr val="FF6B4A"/>
      </a:accent1>
      <a:accent2>
        <a:srgbClr val="2EC4B6"/>
      </a:accent2>
      <a:accent3>
        <a:srgbClr val="FFC857"/>
      </a:accent3>
      <a:accent4>
        <a:srgbClr val="55618A"/>
      </a:accent4>
      <a:accent5>
        <a:srgbClr val="5BD58A"/>
      </a:accent5>
      <a:accent6>
        <a:srgbClr val="A3ADC2"/>
      </a:accent6>
      <a:hlink>
        <a:srgbClr val="2EC4B6"/>
      </a:hlink>
      <a:folHlink>
        <a:srgbClr val="A3ADC2"/>
      </a:folHlink>
    </a:clrScheme>
    <a:fontScheme name="GitTogether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GitTogether: DevOps capstone</dc:title>
  <dc:subject>PptxGenJS Presentation</dc:subject>
  <dc:creator>Ahmad Anzar</dc:creator>
  <cp:lastModifiedBy>Ahmad Anzar</cp:lastModifiedBy>
  <cp:revision>1</cp:revision>
  <dcterms:created xsi:type="dcterms:W3CDTF">2026-10-16T05:48:00Z</dcterms:created>
  <dcterms:modified xsi:type="dcterms:W3CDTF">2026-10-16T05:48:00Z</dcterms:modified>
</cp:coreProperties>
</file>